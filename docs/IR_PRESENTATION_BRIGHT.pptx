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640080" y="-502920"/>
            <a:ext cx="2468880" cy="2468880"/>
          </a:xfrm>
          <a:prstGeom prst="ellipse">
            <a:avLst/>
          </a:prstGeom>
          <a:solidFill>
            <a:srgbClr val="91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241280" y="-411480"/>
            <a:ext cx="2560320" cy="2560320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38360" y="5257800"/>
            <a:ext cx="2834640" cy="2834640"/>
          </a:xfrm>
          <a:prstGeom prst="ellipse">
            <a:avLst/>
          </a:prstGeom>
          <a:solidFill>
            <a:srgbClr val="F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502920" y="5577840"/>
            <a:ext cx="2011680" cy="2011680"/>
          </a:xfrm>
          <a:prstGeom prst="ellipse">
            <a:avLst/>
          </a:prstGeom>
          <a:solidFill>
            <a:srgbClr val="FFB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566928"/>
            <a:ext cx="2148840" cy="347472"/>
          </a:xfrm>
          <a:prstGeom prst="round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91028"/>
                </a:solidFill>
                <a:latin typeface="Aptos"/>
              </a:rPr>
              <a:t>SUMMER SCHOOL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143000"/>
            <a:ext cx="6217920" cy="1645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5400" b="1">
                <a:solidFill>
                  <a:srgbClr val="FAFCFF"/>
                </a:solidFill>
                <a:latin typeface="Aptos Display"/>
              </a:rPr>
              <a:t>Информационный
поиск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971800"/>
            <a:ext cx="53949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900" b="0">
                <a:solidFill>
                  <a:srgbClr val="B9C6DE"/>
                </a:solidFill>
                <a:latin typeface="Aptos"/>
              </a:rPr>
              <a:t>Модели, ИИ-метрики, бизнес-метрики и полный цикл разработки поисковой системы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1051560"/>
            <a:ext cx="3886200" cy="4389120"/>
          </a:xfrm>
          <a:prstGeom prst="roundRect">
            <a:avLst/>
          </a:prstGeom>
          <a:solidFill>
            <a:srgbClr val="121A3E"/>
          </a:solidFill>
          <a:ln w="17780">
            <a:solidFill>
              <a:srgbClr val="FF4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79792" y="1161288"/>
            <a:ext cx="475488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1">
                <a:solidFill>
                  <a:srgbClr val="FF4F9A"/>
                </a:solidFill>
                <a:latin typeface="Arial"/>
              </a:rPr>
              <a:t>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28431" y="1170431"/>
            <a:ext cx="301752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100" b="1">
                <a:solidFill>
                  <a:srgbClr val="FAFCFF"/>
                </a:solidFill>
                <a:latin typeface="Aptos Display"/>
              </a:rPr>
              <a:t>От запроса к бизнес-результату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34656" y="1673352"/>
            <a:ext cx="3447288" cy="3639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0">
                <a:solidFill>
                  <a:srgbClr val="B9C6DE"/>
                </a:solidFill>
                <a:latin typeface="Aptos"/>
              </a:rPr>
              <a:t>Query → Retrieval → Ranking → UX → Conversion → Learning loop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4892040"/>
            <a:ext cx="658368" cy="292608"/>
          </a:xfrm>
          <a:prstGeom prst="roundRect">
            <a:avLst/>
          </a:prstGeom>
          <a:solidFill>
            <a:srgbClr val="FFB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91028"/>
                </a:solidFill>
                <a:latin typeface="Aptos"/>
              </a:rPr>
              <a:t>BM25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31352" y="4892040"/>
            <a:ext cx="658368" cy="292608"/>
          </a:xfrm>
          <a:prstGeom prst="round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91028"/>
                </a:solidFill>
                <a:latin typeface="Aptos"/>
              </a:rPr>
              <a:t>Vectors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36024" y="4892040"/>
            <a:ext cx="658368" cy="292608"/>
          </a:xfrm>
          <a:prstGeom prst="roundRect">
            <a:avLst/>
          </a:prstGeom>
          <a:solidFill>
            <a:srgbClr val="45FF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91028"/>
                </a:solidFill>
                <a:latin typeface="Aptos"/>
              </a:rPr>
              <a:t>LTR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140696" y="4892040"/>
            <a:ext cx="658368" cy="292608"/>
          </a:xfrm>
          <a:prstGeom prst="roundRect">
            <a:avLst/>
          </a:prstGeom>
          <a:solidFill>
            <a:srgbClr val="F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91028"/>
                </a:solidFill>
                <a:latin typeface="Aptos"/>
              </a:rPr>
              <a:t>RAG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54864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0">
                <a:solidFill>
                  <a:srgbClr val="5C6884"/>
                </a:solidFill>
                <a:latin typeface="Aptos"/>
              </a:rPr>
              <a:t>Information Retrieval: модели, метрики, бизнес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0">
                <a:solidFill>
                  <a:srgbClr val="B9C6DE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640080" y="-502920"/>
            <a:ext cx="2468880" cy="2468880"/>
          </a:xfrm>
          <a:prstGeom prst="ellipse">
            <a:avLst/>
          </a:prstGeom>
          <a:solidFill>
            <a:srgbClr val="91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241280" y="-411480"/>
            <a:ext cx="2560320" cy="2560320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38360" y="5257800"/>
            <a:ext cx="2834640" cy="2834640"/>
          </a:xfrm>
          <a:prstGeom prst="ellipse">
            <a:avLst/>
          </a:prstGeom>
          <a:solidFill>
            <a:srgbClr val="F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502920" y="5577840"/>
            <a:ext cx="2011680" cy="2011680"/>
          </a:xfrm>
          <a:prstGeom prst="ellipse">
            <a:avLst/>
          </a:prstGeom>
          <a:solidFill>
            <a:srgbClr val="FFB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384048"/>
            <a:ext cx="594360" cy="310896"/>
          </a:xfrm>
          <a:prstGeom prst="round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91028"/>
                </a:solidFill>
                <a:latin typeface="Aptos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320040"/>
            <a:ext cx="1024128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800" b="1">
                <a:solidFill>
                  <a:srgbClr val="FAFCFF"/>
                </a:solidFill>
                <a:latin typeface="Aptos Display"/>
              </a:rPr>
              <a:t>Карта презентации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822960"/>
            <a:ext cx="100584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0">
                <a:solidFill>
                  <a:srgbClr val="B9C6DE"/>
                </a:solidFill>
                <a:latin typeface="Aptos"/>
              </a:rPr>
              <a:t>Что разберём и как это связано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54864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0">
                <a:solidFill>
                  <a:srgbClr val="5C6884"/>
                </a:solidFill>
                <a:latin typeface="Aptos"/>
              </a:rPr>
              <a:t>Information Retrieval: модели, метрики, бизнес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0">
                <a:solidFill>
                  <a:srgbClr val="B9C6DE"/>
                </a:solidFill>
                <a:latin typeface="Aptos"/>
              </a:rP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417320"/>
            <a:ext cx="3246120" cy="1417320"/>
          </a:xfrm>
          <a:prstGeom prst="roundRect">
            <a:avLst/>
          </a:prstGeom>
          <a:solidFill>
            <a:srgbClr val="121A3E"/>
          </a:solidFill>
          <a:ln w="17780">
            <a:solidFill>
              <a:srgbClr val="0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1527048"/>
            <a:ext cx="475488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1">
                <a:solidFill>
                  <a:srgbClr val="00DC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4752" y="1536192"/>
            <a:ext cx="2377439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1">
                <a:solidFill>
                  <a:srgbClr val="FAFCFF"/>
                </a:solidFill>
                <a:latin typeface="Aptos Display"/>
              </a:rPr>
              <a:t>Задача 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2039112"/>
            <a:ext cx="2807208" cy="6675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>
                <a:solidFill>
                  <a:srgbClr val="B9C6DE"/>
                </a:solidFill>
                <a:latin typeface="Aptos"/>
              </a:rPr>
              <a:t>интент, документы, релевантность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59" y="1417320"/>
            <a:ext cx="3246120" cy="1417320"/>
          </a:xfrm>
          <a:prstGeom prst="roundRect">
            <a:avLst/>
          </a:prstGeom>
          <a:solidFill>
            <a:srgbClr val="121A3E"/>
          </a:solidFill>
          <a:ln w="17780">
            <a:solidFill>
              <a:srgbClr val="FF4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45151" y="1527048"/>
            <a:ext cx="475488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1">
                <a:solidFill>
                  <a:srgbClr val="FF4F9A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93792" y="1536192"/>
            <a:ext cx="2377439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1">
                <a:solidFill>
                  <a:srgbClr val="FAFCFF"/>
                </a:solidFill>
                <a:latin typeface="Aptos Display"/>
              </a:rPr>
              <a:t>Архитектура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0016" y="2039112"/>
            <a:ext cx="2807208" cy="6675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>
                <a:solidFill>
                  <a:srgbClr val="B9C6DE"/>
                </a:solidFill>
                <a:latin typeface="Aptos"/>
              </a:rPr>
              <a:t>индекс, retrieval, ranking, feedback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1417320"/>
            <a:ext cx="3246120" cy="1417320"/>
          </a:xfrm>
          <a:prstGeom prst="roundRect">
            <a:avLst/>
          </a:prstGeom>
          <a:solidFill>
            <a:srgbClr val="121A3E"/>
          </a:solidFill>
          <a:ln w="17780">
            <a:solidFill>
              <a:srgbClr val="FFB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94192" y="1527048"/>
            <a:ext cx="475488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1">
                <a:solidFill>
                  <a:srgbClr val="FFB240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42832" y="1536192"/>
            <a:ext cx="2377439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1">
                <a:solidFill>
                  <a:srgbClr val="FAFCFF"/>
                </a:solidFill>
                <a:latin typeface="Aptos Display"/>
              </a:rPr>
              <a:t>Модели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49056" y="2039112"/>
            <a:ext cx="2807208" cy="6675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>
                <a:solidFill>
                  <a:srgbClr val="B9C6DE"/>
                </a:solidFill>
                <a:latin typeface="Aptos"/>
              </a:rPr>
              <a:t>BM25, embeddings, cross-encoder, LTR, RAG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3291839"/>
            <a:ext cx="3246120" cy="1417320"/>
          </a:xfrm>
          <a:prstGeom prst="roundRect">
            <a:avLst/>
          </a:prstGeom>
          <a:solidFill>
            <a:srgbClr val="121A3E"/>
          </a:solidFill>
          <a:ln w="17780">
            <a:solidFill>
              <a:srgbClr val="45FF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3401568"/>
            <a:ext cx="475488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1">
                <a:solidFill>
                  <a:srgbClr val="45FFBA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44752" y="3410711"/>
            <a:ext cx="2377439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1">
                <a:solidFill>
                  <a:srgbClr val="FAFCFF"/>
                </a:solidFill>
                <a:latin typeface="Aptos Display"/>
              </a:rPr>
              <a:t>Метрики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6" y="3913631"/>
            <a:ext cx="2807208" cy="6675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>
                <a:solidFill>
                  <a:srgbClr val="B9C6DE"/>
                </a:solidFill>
                <a:latin typeface="Aptos"/>
              </a:rPr>
              <a:t>offline ML + online business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80559" y="3291839"/>
            <a:ext cx="3246120" cy="1417320"/>
          </a:xfrm>
          <a:prstGeom prst="roundRect">
            <a:avLst/>
          </a:prstGeom>
          <a:solidFill>
            <a:srgbClr val="121A3E"/>
          </a:solidFill>
          <a:ln w="17780">
            <a:solidFill>
              <a:srgbClr val="91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45151" y="3401568"/>
            <a:ext cx="475488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1">
                <a:solidFill>
                  <a:srgbClr val="915AFF"/>
                </a:solidFill>
                <a:latin typeface="Arial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93792" y="3410711"/>
            <a:ext cx="2377439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1">
                <a:solidFill>
                  <a:srgbClr val="FAFCFF"/>
                </a:solidFill>
                <a:latin typeface="Aptos Display"/>
              </a:rPr>
              <a:t>Полный цикл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00016" y="3913631"/>
            <a:ext cx="2807208" cy="6675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>
                <a:solidFill>
                  <a:srgbClr val="B9C6DE"/>
                </a:solidFill>
                <a:latin typeface="Aptos"/>
              </a:rPr>
              <a:t>данные → эксперименты → A/B → мониторинг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640080" y="-502920"/>
            <a:ext cx="2468880" cy="2468880"/>
          </a:xfrm>
          <a:prstGeom prst="ellipse">
            <a:avLst/>
          </a:prstGeom>
          <a:solidFill>
            <a:srgbClr val="91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241280" y="-411480"/>
            <a:ext cx="2560320" cy="2560320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38360" y="5257800"/>
            <a:ext cx="2834640" cy="2834640"/>
          </a:xfrm>
          <a:prstGeom prst="ellipse">
            <a:avLst/>
          </a:prstGeom>
          <a:solidFill>
            <a:srgbClr val="F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502920" y="5577840"/>
            <a:ext cx="2011680" cy="2011680"/>
          </a:xfrm>
          <a:prstGeom prst="ellipse">
            <a:avLst/>
          </a:prstGeom>
          <a:solidFill>
            <a:srgbClr val="FFB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384048"/>
            <a:ext cx="594360" cy="310896"/>
          </a:xfrm>
          <a:prstGeom prst="round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91028"/>
                </a:solidFill>
                <a:latin typeface="Aptos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320040"/>
            <a:ext cx="1024128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800" b="1">
                <a:solidFill>
                  <a:srgbClr val="FAFCFF"/>
                </a:solidFill>
                <a:latin typeface="Aptos Display"/>
              </a:rPr>
              <a:t>Что такое информационный поиск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822960"/>
            <a:ext cx="100584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0">
                <a:solidFill>
                  <a:srgbClr val="B9C6DE"/>
                </a:solidFill>
                <a:latin typeface="Aptos"/>
              </a:rPr>
              <a:t>IR отвечает на вопрос: какие документы лучше всего решают задачу пользователя?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54864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0">
                <a:solidFill>
                  <a:srgbClr val="5C6884"/>
                </a:solidFill>
                <a:latin typeface="Aptos"/>
              </a:rPr>
              <a:t>Information Retrieval: модели, метрики, бизнес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0">
                <a:solidFill>
                  <a:srgbClr val="B9C6DE"/>
                </a:solidFill>
                <a:latin typeface="Aptos"/>
              </a:rPr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325880"/>
            <a:ext cx="3337560" cy="1353312"/>
          </a:xfrm>
          <a:prstGeom prst="roundRect">
            <a:avLst/>
          </a:prstGeom>
          <a:solidFill>
            <a:srgbClr val="121A3E"/>
          </a:solidFill>
          <a:ln w="17780">
            <a:solidFill>
              <a:srgbClr val="0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1435607"/>
            <a:ext cx="475488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1">
                <a:solidFill>
                  <a:srgbClr val="00DC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07592" y="1444752"/>
            <a:ext cx="246888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FAFCFF"/>
                </a:solidFill>
                <a:latin typeface="Aptos Display"/>
              </a:rPr>
              <a:t>Пользователь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" y="1947672"/>
            <a:ext cx="2898648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B9C6DE"/>
                </a:solidFill>
                <a:latin typeface="Aptos"/>
              </a:rPr>
              <a:t>Короткий и часто неоднозначный запрос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60" y="1325880"/>
            <a:ext cx="3337560" cy="1353312"/>
          </a:xfrm>
          <a:prstGeom prst="roundRect">
            <a:avLst/>
          </a:prstGeom>
          <a:solidFill>
            <a:srgbClr val="121A3E"/>
          </a:solidFill>
          <a:ln w="17780">
            <a:solidFill>
              <a:srgbClr val="FF4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45152" y="1435607"/>
            <a:ext cx="475488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1">
                <a:solidFill>
                  <a:srgbClr val="FF4F9A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93792" y="1444752"/>
            <a:ext cx="246888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FAFCFF"/>
                </a:solidFill>
                <a:latin typeface="Aptos Display"/>
              </a:rPr>
              <a:t>Коллекция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0016" y="1947672"/>
            <a:ext cx="2898648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B9C6DE"/>
                </a:solidFill>
                <a:latin typeface="Aptos"/>
              </a:rPr>
              <a:t>Миллионы документов, товаров, статей или фрагментов знаний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66760" y="1325880"/>
            <a:ext cx="3337560" cy="1353312"/>
          </a:xfrm>
          <a:prstGeom prst="roundRect">
            <a:avLst/>
          </a:prstGeom>
          <a:solidFill>
            <a:srgbClr val="121A3E"/>
          </a:solidFill>
          <a:ln w="17780">
            <a:solidFill>
              <a:srgbClr val="FFB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31352" y="1435607"/>
            <a:ext cx="475488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1">
                <a:solidFill>
                  <a:srgbClr val="FFB240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9992" y="1444752"/>
            <a:ext cx="246888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FAFCFF"/>
                </a:solidFill>
                <a:latin typeface="Aptos Display"/>
              </a:rPr>
              <a:t>Выдача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86216" y="1947672"/>
            <a:ext cx="2898648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B9C6DE"/>
                </a:solidFill>
                <a:latin typeface="Aptos"/>
              </a:rPr>
              <a:t>Упорядоченный список результатов или готовый ответ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617720"/>
            <a:ext cx="10332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>
                <a:solidFill>
                  <a:srgbClr val="00DCFF"/>
                </a:solidFill>
              </a:rPr>
              <a:t>●  </a:t>
            </a:r>
            <a:r>
              <a:rPr sz="1400">
                <a:solidFill>
                  <a:srgbClr val="FAFCFF"/>
                </a:solidFill>
                <a:latin typeface="Aptos"/>
              </a:rPr>
              <a:t>Запрос редко равен реальной потребности пользователя.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00DCFF"/>
                </a:solidFill>
              </a:rPr>
              <a:t>●  </a:t>
            </a:r>
            <a:r>
              <a:rPr sz="1400">
                <a:solidFill>
                  <a:srgbClr val="FAFCFF"/>
                </a:solidFill>
                <a:latin typeface="Aptos"/>
              </a:rPr>
              <a:t>Релевантность многоуровневая: смысл, точность, свежесть, доступность, доверие.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00DCFF"/>
                </a:solidFill>
              </a:rPr>
              <a:t>●  </a:t>
            </a:r>
            <a:r>
              <a:rPr sz="1400">
                <a:solidFill>
                  <a:srgbClr val="FAFCFF"/>
                </a:solidFill>
                <a:latin typeface="Aptos"/>
              </a:rPr>
              <a:t>Поиск должен быть точным, быстрым, масштабируемым и измеримым.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640080" y="-502920"/>
            <a:ext cx="2468880" cy="2468880"/>
          </a:xfrm>
          <a:prstGeom prst="ellipse">
            <a:avLst/>
          </a:prstGeom>
          <a:solidFill>
            <a:srgbClr val="91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241280" y="-411480"/>
            <a:ext cx="2560320" cy="2560320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38360" y="5257800"/>
            <a:ext cx="2834640" cy="2834640"/>
          </a:xfrm>
          <a:prstGeom prst="ellipse">
            <a:avLst/>
          </a:prstGeom>
          <a:solidFill>
            <a:srgbClr val="F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502920" y="5577840"/>
            <a:ext cx="2011680" cy="2011680"/>
          </a:xfrm>
          <a:prstGeom prst="ellipse">
            <a:avLst/>
          </a:prstGeom>
          <a:solidFill>
            <a:srgbClr val="FFB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384048"/>
            <a:ext cx="594360" cy="310896"/>
          </a:xfrm>
          <a:prstGeom prst="round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91028"/>
                </a:solidFill>
                <a:latin typeface="Aptos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320040"/>
            <a:ext cx="1024128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800" b="1">
                <a:solidFill>
                  <a:srgbClr val="FAFCFF"/>
                </a:solidFill>
                <a:latin typeface="Aptos Display"/>
              </a:rPr>
              <a:t>Почему поиск сложный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822960"/>
            <a:ext cx="100584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0">
                <a:solidFill>
                  <a:srgbClr val="B9C6DE"/>
                </a:solidFill>
                <a:latin typeface="Aptos"/>
              </a:rPr>
              <a:t>Между запросом и хорошим ответом есть несколько разрывов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54864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0">
                <a:solidFill>
                  <a:srgbClr val="5C6884"/>
                </a:solidFill>
                <a:latin typeface="Aptos"/>
              </a:rPr>
              <a:t>Information Retrieval: модели, метрики, бизнес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0">
                <a:solidFill>
                  <a:srgbClr val="B9C6DE"/>
                </a:solidFill>
                <a:latin typeface="Aptos"/>
              </a:rPr>
              <a:t>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325880"/>
            <a:ext cx="4892040" cy="1353312"/>
          </a:xfrm>
          <a:prstGeom prst="roundRect">
            <a:avLst/>
          </a:prstGeom>
          <a:solidFill>
            <a:srgbClr val="121A3E"/>
          </a:solidFill>
          <a:ln w="17780">
            <a:solidFill>
              <a:srgbClr val="0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1435607"/>
            <a:ext cx="475488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1">
                <a:solidFill>
                  <a:srgbClr val="00DC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4752" y="1444752"/>
            <a:ext cx="4023359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FAFCFF"/>
                </a:solidFill>
                <a:latin typeface="Aptos Display"/>
              </a:rPr>
              <a:t>Лексический разрыв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1947672"/>
            <a:ext cx="4453127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B9C6DE"/>
                </a:solidFill>
                <a:latin typeface="Aptos"/>
              </a:rPr>
              <a:t>«айфон» в запросе, «смартфон Apple» в документе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325880"/>
            <a:ext cx="4892040" cy="1353312"/>
          </a:xfrm>
          <a:prstGeom prst="roundRect">
            <a:avLst/>
          </a:prstGeom>
          <a:solidFill>
            <a:srgbClr val="121A3E"/>
          </a:solidFill>
          <a:ln w="17780">
            <a:solidFill>
              <a:srgbClr val="FFB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8231" y="1435607"/>
            <a:ext cx="475488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1">
                <a:solidFill>
                  <a:srgbClr val="FFB240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76872" y="1444752"/>
            <a:ext cx="4023359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FAFCFF"/>
                </a:solidFill>
                <a:latin typeface="Aptos Display"/>
              </a:rPr>
              <a:t>Неоднозначность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3096" y="1947672"/>
            <a:ext cx="4453127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B9C6DE"/>
                </a:solidFill>
                <a:latin typeface="Aptos"/>
              </a:rPr>
              <a:t>java: язык, остров, кофе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063239"/>
            <a:ext cx="4892040" cy="1353312"/>
          </a:xfrm>
          <a:prstGeom prst="roundRect">
            <a:avLst/>
          </a:prstGeom>
          <a:solidFill>
            <a:srgbClr val="121A3E"/>
          </a:solidFill>
          <a:ln w="17780">
            <a:solidFill>
              <a:srgbClr val="FF4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3172968"/>
            <a:ext cx="475488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1">
                <a:solidFill>
                  <a:srgbClr val="FF4F9A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44752" y="3182111"/>
            <a:ext cx="4023359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FAFCFF"/>
                </a:solidFill>
                <a:latin typeface="Aptos Display"/>
              </a:rPr>
              <a:t>Длинный хвост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" y="3685031"/>
            <a:ext cx="4453127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B9C6DE"/>
                </a:solidFill>
                <a:latin typeface="Aptos"/>
              </a:rPr>
              <a:t>редкие запросы и новые сущности без истории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3063239"/>
            <a:ext cx="4892040" cy="1353312"/>
          </a:xfrm>
          <a:prstGeom prst="roundRect">
            <a:avLst/>
          </a:prstGeom>
          <a:solidFill>
            <a:srgbClr val="121A3E"/>
          </a:solidFill>
          <a:ln w="17780">
            <a:solidFill>
              <a:srgbClr val="45FF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8231" y="3172968"/>
            <a:ext cx="475488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1">
                <a:solidFill>
                  <a:srgbClr val="45FFBA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76872" y="3182111"/>
            <a:ext cx="4023359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FAFCFF"/>
                </a:solidFill>
                <a:latin typeface="Aptos Display"/>
              </a:rPr>
              <a:t>Бизнес-контекст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83096" y="3685031"/>
            <a:ext cx="4453127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B9C6DE"/>
                </a:solidFill>
                <a:latin typeface="Aptos"/>
              </a:rPr>
              <a:t>релевантный товар может быть не в наличии или иметь низкую маржу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640080" y="-502920"/>
            <a:ext cx="2468880" cy="2468880"/>
          </a:xfrm>
          <a:prstGeom prst="ellipse">
            <a:avLst/>
          </a:prstGeom>
          <a:solidFill>
            <a:srgbClr val="91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241280" y="-411480"/>
            <a:ext cx="2560320" cy="2560320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38360" y="5257800"/>
            <a:ext cx="2834640" cy="2834640"/>
          </a:xfrm>
          <a:prstGeom prst="ellipse">
            <a:avLst/>
          </a:prstGeom>
          <a:solidFill>
            <a:srgbClr val="F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502920" y="5577840"/>
            <a:ext cx="2011680" cy="2011680"/>
          </a:xfrm>
          <a:prstGeom prst="ellipse">
            <a:avLst/>
          </a:prstGeom>
          <a:solidFill>
            <a:srgbClr val="FFB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384048"/>
            <a:ext cx="594360" cy="310896"/>
          </a:xfrm>
          <a:prstGeom prst="round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91028"/>
                </a:solidFill>
                <a:latin typeface="Aptos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320040"/>
            <a:ext cx="1024128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800" b="1">
                <a:solidFill>
                  <a:srgbClr val="FAFCFF"/>
                </a:solidFill>
                <a:latin typeface="Aptos Display"/>
              </a:rPr>
              <a:t>Полный цикл поисковой системы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822960"/>
            <a:ext cx="100584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0">
                <a:solidFill>
                  <a:srgbClr val="B9C6DE"/>
                </a:solidFill>
                <a:latin typeface="Aptos"/>
              </a:rPr>
              <a:t>Два контура: offline-подготовка и online-ответ пользователю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54864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0">
                <a:solidFill>
                  <a:srgbClr val="5C6884"/>
                </a:solidFill>
                <a:latin typeface="Aptos"/>
              </a:rPr>
              <a:t>Information Retrieval: модели, метрики, бизнес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0">
                <a:solidFill>
                  <a:srgbClr val="B9C6DE"/>
                </a:solidFill>
                <a:latin typeface="Aptos"/>
              </a:rPr>
              <a:t>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828800"/>
            <a:ext cx="1188720" cy="411480"/>
          </a:xfrm>
          <a:prstGeom prst="round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91028"/>
                </a:solidFill>
                <a:latin typeface="Aptos"/>
              </a:rPr>
              <a:t>Data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874519" y="2029968"/>
            <a:ext cx="685801" cy="0"/>
          </a:xfrm>
          <a:prstGeom prst="line">
            <a:avLst/>
          </a:prstGeom>
          <a:ln w="27940">
            <a:solidFill>
              <a:srgbClr val="00D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606040" y="1828800"/>
            <a:ext cx="1188720" cy="411480"/>
          </a:xfrm>
          <a:prstGeom prst="roundRect">
            <a:avLst/>
          </a:prstGeom>
          <a:solidFill>
            <a:srgbClr val="F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91028"/>
                </a:solidFill>
                <a:latin typeface="Aptos"/>
              </a:rPr>
              <a:t>Index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794760" y="2029968"/>
            <a:ext cx="685800" cy="0"/>
          </a:xfrm>
          <a:prstGeom prst="line">
            <a:avLst/>
          </a:prstGeom>
          <a:ln w="27940">
            <a:solidFill>
              <a:srgbClr val="FF4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526280" y="1828800"/>
            <a:ext cx="1188720" cy="411480"/>
          </a:xfrm>
          <a:prstGeom prst="roundRect">
            <a:avLst/>
          </a:prstGeom>
          <a:solidFill>
            <a:srgbClr val="FFB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91028"/>
                </a:solidFill>
                <a:latin typeface="Aptos"/>
              </a:rPr>
              <a:t>Query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715000" y="2029968"/>
            <a:ext cx="685800" cy="0"/>
          </a:xfrm>
          <a:prstGeom prst="line">
            <a:avLst/>
          </a:prstGeom>
          <a:ln w="27940">
            <a:solidFill>
              <a:srgbClr val="FFB2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446520" y="1828800"/>
            <a:ext cx="1188720" cy="411480"/>
          </a:xfrm>
          <a:prstGeom prst="roundRect">
            <a:avLst/>
          </a:prstGeom>
          <a:solidFill>
            <a:srgbClr val="45FF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91028"/>
                </a:solidFill>
                <a:latin typeface="Aptos"/>
              </a:rPr>
              <a:t>Retrieve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35240" y="2029968"/>
            <a:ext cx="685800" cy="0"/>
          </a:xfrm>
          <a:prstGeom prst="line">
            <a:avLst/>
          </a:prstGeom>
          <a:ln w="27940">
            <a:solidFill>
              <a:srgbClr val="45FF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366760" y="1828800"/>
            <a:ext cx="1188720" cy="411480"/>
          </a:xfrm>
          <a:prstGeom prst="roundRect">
            <a:avLst/>
          </a:prstGeom>
          <a:solidFill>
            <a:srgbClr val="91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91028"/>
                </a:solidFill>
                <a:latin typeface="Aptos"/>
              </a:rPr>
              <a:t>Rank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555480" y="2029968"/>
            <a:ext cx="685800" cy="0"/>
          </a:xfrm>
          <a:prstGeom prst="line">
            <a:avLst/>
          </a:prstGeom>
          <a:ln w="27940">
            <a:solidFill>
              <a:srgbClr val="915A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0287000" y="1828800"/>
            <a:ext cx="1188720" cy="411480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91028"/>
                </a:solidFill>
                <a:latin typeface="Aptos"/>
              </a:rPr>
              <a:t>Learn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1508760"/>
            <a:ext cx="103327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>
                <a:solidFill>
                  <a:srgbClr val="45FFBA"/>
                </a:solidFill>
              </a:rPr>
              <a:t>●  </a:t>
            </a:r>
            <a:r>
              <a:rPr sz="1700">
                <a:solidFill>
                  <a:srgbClr val="FAFCFF"/>
                </a:solidFill>
                <a:latin typeface="Aptos"/>
              </a:rPr>
              <a:t>Offline: очистка документов, индексация, эмбеддинги и признаки.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45FFBA"/>
                </a:solidFill>
              </a:rPr>
              <a:t>●  </a:t>
            </a:r>
            <a:r>
              <a:rPr sz="1700">
                <a:solidFill>
                  <a:srgbClr val="FAFCFF"/>
                </a:solidFill>
                <a:latin typeface="Aptos"/>
              </a:rPr>
              <a:t>Online: обработка запроса, retrieval, ранжирование и отрисовка выдачи.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45FFBA"/>
                </a:solidFill>
              </a:rPr>
              <a:t>●  </a:t>
            </a:r>
            <a:r>
              <a:rPr sz="1700">
                <a:solidFill>
                  <a:srgbClr val="FAFCFF"/>
                </a:solidFill>
                <a:latin typeface="Aptos"/>
              </a:rPr>
              <a:t>Feedback loop: клики и конверсии становятся данными для новых моделей.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640080" y="-502920"/>
            <a:ext cx="2468880" cy="2468880"/>
          </a:xfrm>
          <a:prstGeom prst="ellipse">
            <a:avLst/>
          </a:prstGeom>
          <a:solidFill>
            <a:srgbClr val="91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241280" y="-411480"/>
            <a:ext cx="2560320" cy="2560320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38360" y="5257800"/>
            <a:ext cx="2834640" cy="2834640"/>
          </a:xfrm>
          <a:prstGeom prst="ellipse">
            <a:avLst/>
          </a:prstGeom>
          <a:solidFill>
            <a:srgbClr val="F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502920" y="5577840"/>
            <a:ext cx="2011680" cy="2011680"/>
          </a:xfrm>
          <a:prstGeom prst="ellipse">
            <a:avLst/>
          </a:prstGeom>
          <a:solidFill>
            <a:srgbClr val="FFB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384048"/>
            <a:ext cx="594360" cy="310896"/>
          </a:xfrm>
          <a:prstGeom prst="round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91028"/>
                </a:solidFill>
                <a:latin typeface="Aptos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320040"/>
            <a:ext cx="1024128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800" b="1">
                <a:solidFill>
                  <a:srgbClr val="FAFCFF"/>
                </a:solidFill>
                <a:latin typeface="Aptos Display"/>
              </a:rPr>
              <a:t>Индексация: фундамент поиска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822960"/>
            <a:ext cx="100584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0">
                <a:solidFill>
                  <a:srgbClr val="B9C6DE"/>
                </a:solidFill>
                <a:latin typeface="Aptos"/>
              </a:rPr>
              <a:t>Если индекс плохой, даже сильная модель не спасёт выдачу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54864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0">
                <a:solidFill>
                  <a:srgbClr val="5C6884"/>
                </a:solidFill>
                <a:latin typeface="Aptos"/>
              </a:rPr>
              <a:t>Information Retrieval: модели, метрики, бизнес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0">
                <a:solidFill>
                  <a:srgbClr val="B9C6DE"/>
                </a:solidFill>
                <a:latin typeface="Aptos"/>
              </a:rPr>
              <a:t>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325880"/>
            <a:ext cx="3337560" cy="1353312"/>
          </a:xfrm>
          <a:prstGeom prst="roundRect">
            <a:avLst/>
          </a:prstGeom>
          <a:solidFill>
            <a:srgbClr val="121A3E"/>
          </a:solidFill>
          <a:ln w="17780">
            <a:solidFill>
              <a:srgbClr val="FFB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1435607"/>
            <a:ext cx="475488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1">
                <a:solidFill>
                  <a:srgbClr val="FFB240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07592" y="1444752"/>
            <a:ext cx="246888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FAFCFF"/>
                </a:solidFill>
                <a:latin typeface="Aptos Display"/>
              </a:rPr>
              <a:t>Обратный индекс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" y="1947672"/>
            <a:ext cx="2898648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B9C6DE"/>
                </a:solidFill>
                <a:latin typeface="Aptos"/>
              </a:rPr>
              <a:t>слово → список документов; идеален для точных терминов, имён, артикулов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60" y="1325880"/>
            <a:ext cx="3337560" cy="1353312"/>
          </a:xfrm>
          <a:prstGeom prst="roundRect">
            <a:avLst/>
          </a:prstGeom>
          <a:solidFill>
            <a:srgbClr val="121A3E"/>
          </a:solidFill>
          <a:ln w="17780">
            <a:solidFill>
              <a:srgbClr val="0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45152" y="1435607"/>
            <a:ext cx="475488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1">
                <a:solidFill>
                  <a:srgbClr val="00DC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93792" y="1444752"/>
            <a:ext cx="246888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FAFCFF"/>
                </a:solidFill>
                <a:latin typeface="Aptos Display"/>
              </a:rPr>
              <a:t>Векторный индекс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0016" y="1947672"/>
            <a:ext cx="2898648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B9C6DE"/>
                </a:solidFill>
                <a:latin typeface="Aptos"/>
              </a:rPr>
              <a:t>embedding → ближайшие соседи; ловит смысл и синонимы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66760" y="1325880"/>
            <a:ext cx="3337560" cy="1353312"/>
          </a:xfrm>
          <a:prstGeom prst="roundRect">
            <a:avLst/>
          </a:prstGeom>
          <a:solidFill>
            <a:srgbClr val="121A3E"/>
          </a:solidFill>
          <a:ln w="17780">
            <a:solidFill>
              <a:srgbClr val="FF4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31352" y="1435607"/>
            <a:ext cx="475488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1">
                <a:solidFill>
                  <a:srgbClr val="FF4F9A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9992" y="1444752"/>
            <a:ext cx="246888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FAFCFF"/>
                </a:solidFill>
                <a:latin typeface="Aptos Display"/>
              </a:rPr>
              <a:t>Feature Store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86216" y="1947672"/>
            <a:ext cx="2898648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B9C6DE"/>
                </a:solidFill>
                <a:latin typeface="Aptos"/>
              </a:rPr>
              <a:t>популярность, свежесть, цена, наличие, CTR, доверие источника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640080" y="-502920"/>
            <a:ext cx="2468880" cy="2468880"/>
          </a:xfrm>
          <a:prstGeom prst="ellipse">
            <a:avLst/>
          </a:prstGeom>
          <a:solidFill>
            <a:srgbClr val="91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241280" y="-411480"/>
            <a:ext cx="2560320" cy="2560320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38360" y="5257800"/>
            <a:ext cx="2834640" cy="2834640"/>
          </a:xfrm>
          <a:prstGeom prst="ellipse">
            <a:avLst/>
          </a:prstGeom>
          <a:solidFill>
            <a:srgbClr val="F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502920" y="5577840"/>
            <a:ext cx="2011680" cy="2011680"/>
          </a:xfrm>
          <a:prstGeom prst="ellipse">
            <a:avLst/>
          </a:prstGeom>
          <a:solidFill>
            <a:srgbClr val="FFB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384048"/>
            <a:ext cx="594360" cy="310896"/>
          </a:xfrm>
          <a:prstGeom prst="round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91028"/>
                </a:solidFill>
                <a:latin typeface="Aptos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320040"/>
            <a:ext cx="1024128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800" b="1">
                <a:solidFill>
                  <a:srgbClr val="FAFCFF"/>
                </a:solidFill>
                <a:latin typeface="Aptos Display"/>
              </a:rPr>
              <a:t>Retrieval: быстрый отбор кандидатов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822960"/>
            <a:ext cx="100584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0">
                <a:solidFill>
                  <a:srgbClr val="B9C6DE"/>
                </a:solidFill>
                <a:latin typeface="Aptos"/>
              </a:rPr>
              <a:t>Цель: не идеально отсортировать, а не потерять хорошие документы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54864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0">
                <a:solidFill>
                  <a:srgbClr val="5C6884"/>
                </a:solidFill>
                <a:latin typeface="Aptos"/>
              </a:rPr>
              <a:t>Information Retrieval: модели, метрики, бизнес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0">
                <a:solidFill>
                  <a:srgbClr val="B9C6DE"/>
                </a:solidFill>
                <a:latin typeface="Aptos"/>
              </a:rPr>
              <a:t>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325880"/>
            <a:ext cx="3337560" cy="1353312"/>
          </a:xfrm>
          <a:prstGeom prst="roundRect">
            <a:avLst/>
          </a:prstGeom>
          <a:solidFill>
            <a:srgbClr val="121A3E"/>
          </a:solidFill>
          <a:ln w="17780">
            <a:solidFill>
              <a:srgbClr val="FFB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1435607"/>
            <a:ext cx="475488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1">
                <a:solidFill>
                  <a:srgbClr val="FFB240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07592" y="1444752"/>
            <a:ext cx="246888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FAFCFF"/>
                </a:solidFill>
                <a:latin typeface="Aptos Display"/>
              </a:rPr>
              <a:t>Лексический retrieval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" y="1947672"/>
            <a:ext cx="2898648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B9C6DE"/>
                </a:solidFill>
                <a:latin typeface="Aptos"/>
              </a:rPr>
              <a:t>BM25 / Elasticsearch / OpenSearch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60" y="1325880"/>
            <a:ext cx="3337560" cy="1353312"/>
          </a:xfrm>
          <a:prstGeom prst="roundRect">
            <a:avLst/>
          </a:prstGeom>
          <a:solidFill>
            <a:srgbClr val="121A3E"/>
          </a:solidFill>
          <a:ln w="17780">
            <a:solidFill>
              <a:srgbClr val="0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45152" y="1435607"/>
            <a:ext cx="475488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1">
                <a:solidFill>
                  <a:srgbClr val="00DC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93792" y="1444752"/>
            <a:ext cx="246888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FAFCFF"/>
                </a:solidFill>
                <a:latin typeface="Aptos Display"/>
              </a:rPr>
              <a:t>Dense retrieval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0016" y="1947672"/>
            <a:ext cx="2898648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B9C6DE"/>
                </a:solidFill>
                <a:latin typeface="Aptos"/>
              </a:rPr>
              <a:t>Embeddings + ANN / FAISS / HNSW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66760" y="1325880"/>
            <a:ext cx="3337560" cy="1353312"/>
          </a:xfrm>
          <a:prstGeom prst="roundRect">
            <a:avLst/>
          </a:prstGeom>
          <a:solidFill>
            <a:srgbClr val="121A3E"/>
          </a:solidFill>
          <a:ln w="17780">
            <a:solidFill>
              <a:srgbClr val="FF4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31352" y="1435607"/>
            <a:ext cx="475488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1">
                <a:solidFill>
                  <a:srgbClr val="FF4F9A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9992" y="1444752"/>
            <a:ext cx="246888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FAFCFF"/>
                </a:solidFill>
                <a:latin typeface="Aptos Display"/>
              </a:rPr>
              <a:t>Hybrid Search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86216" y="1947672"/>
            <a:ext cx="2898648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B9C6DE"/>
                </a:solidFill>
                <a:latin typeface="Aptos"/>
              </a:rPr>
              <a:t>BM25 ловит точность, dense retrieval ловит смысл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617720"/>
            <a:ext cx="10332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>
                <a:solidFill>
                  <a:srgbClr val="00DCFF"/>
                </a:solidFill>
              </a:rPr>
              <a:t>●  </a:t>
            </a:r>
            <a:r>
              <a:rPr sz="1400">
                <a:solidFill>
                  <a:srgbClr val="FAFCFF"/>
                </a:solidFill>
                <a:latin typeface="Aptos"/>
              </a:rPr>
              <a:t>Retrieval обычно возвращает top-100, top-1000 или top-5000 кандидатов.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00DCFF"/>
                </a:solidFill>
              </a:rPr>
              <a:t>●  </a:t>
            </a:r>
            <a:r>
              <a:rPr sz="1400">
                <a:solidFill>
                  <a:srgbClr val="FAFCFF"/>
                </a:solidFill>
                <a:latin typeface="Aptos"/>
              </a:rPr>
              <a:t>Главная offline-метрика этапа: Recall@K.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640080" y="-502920"/>
            <a:ext cx="2468880" cy="2468880"/>
          </a:xfrm>
          <a:prstGeom prst="ellipse">
            <a:avLst/>
          </a:prstGeom>
          <a:solidFill>
            <a:srgbClr val="91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241280" y="-411480"/>
            <a:ext cx="2560320" cy="2560320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38360" y="5257800"/>
            <a:ext cx="2834640" cy="2834640"/>
          </a:xfrm>
          <a:prstGeom prst="ellipse">
            <a:avLst/>
          </a:prstGeom>
          <a:solidFill>
            <a:srgbClr val="F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502920" y="5577840"/>
            <a:ext cx="2011680" cy="2011680"/>
          </a:xfrm>
          <a:prstGeom prst="ellipse">
            <a:avLst/>
          </a:prstGeom>
          <a:solidFill>
            <a:srgbClr val="FFB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384048"/>
            <a:ext cx="594360" cy="310896"/>
          </a:xfrm>
          <a:prstGeom prst="round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91028"/>
                </a:solidFill>
                <a:latin typeface="Aptos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320040"/>
            <a:ext cx="1024128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800" b="1">
                <a:solidFill>
                  <a:srgbClr val="FAFCFF"/>
                </a:solidFill>
                <a:latin typeface="Aptos Display"/>
              </a:rPr>
              <a:t>BM25: сильный базовый уровень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822960"/>
            <a:ext cx="100584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0">
                <a:solidFill>
                  <a:srgbClr val="B9C6DE"/>
                </a:solidFill>
                <a:latin typeface="Aptos"/>
              </a:rPr>
              <a:t>Классическая модель, которую почти всегда стоит иметь в production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54864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0">
                <a:solidFill>
                  <a:srgbClr val="5C6884"/>
                </a:solidFill>
                <a:latin typeface="Aptos"/>
              </a:rPr>
              <a:t>Information Retrieval: модели, метрики, бизнес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0">
                <a:solidFill>
                  <a:srgbClr val="B9C6DE"/>
                </a:solidFill>
                <a:latin typeface="Aptos"/>
              </a:rPr>
              <a:t>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325880"/>
            <a:ext cx="4892040" cy="1353312"/>
          </a:xfrm>
          <a:prstGeom prst="roundRect">
            <a:avLst/>
          </a:prstGeom>
          <a:solidFill>
            <a:srgbClr val="121A3E"/>
          </a:solidFill>
          <a:ln w="17780">
            <a:solidFill>
              <a:srgbClr val="0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1435607"/>
            <a:ext cx="475488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1">
                <a:solidFill>
                  <a:srgbClr val="00DC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4752" y="1444752"/>
            <a:ext cx="4023359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FAFCFF"/>
                </a:solidFill>
                <a:latin typeface="Aptos Display"/>
              </a:rPr>
              <a:t>TF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1947672"/>
            <a:ext cx="4453127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B9C6DE"/>
                </a:solidFill>
                <a:latin typeface="Aptos"/>
              </a:rPr>
              <a:t>как часто термин встречается в документе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325880"/>
            <a:ext cx="4892040" cy="1353312"/>
          </a:xfrm>
          <a:prstGeom prst="roundRect">
            <a:avLst/>
          </a:prstGeom>
          <a:solidFill>
            <a:srgbClr val="121A3E"/>
          </a:solidFill>
          <a:ln w="17780">
            <a:solidFill>
              <a:srgbClr val="FFB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8231" y="1435607"/>
            <a:ext cx="475488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1">
                <a:solidFill>
                  <a:srgbClr val="FFB240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76872" y="1444752"/>
            <a:ext cx="4023359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FAFCFF"/>
                </a:solidFill>
                <a:latin typeface="Aptos Display"/>
              </a:rPr>
              <a:t>IDF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3096" y="1947672"/>
            <a:ext cx="4453127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B9C6DE"/>
                </a:solidFill>
                <a:latin typeface="Aptos"/>
              </a:rPr>
              <a:t>насколько термин редкий в коллекции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063239"/>
            <a:ext cx="4892040" cy="1353312"/>
          </a:xfrm>
          <a:prstGeom prst="roundRect">
            <a:avLst/>
          </a:prstGeom>
          <a:solidFill>
            <a:srgbClr val="121A3E"/>
          </a:solidFill>
          <a:ln w="17780">
            <a:solidFill>
              <a:srgbClr val="FF4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3172968"/>
            <a:ext cx="475488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1">
                <a:solidFill>
                  <a:srgbClr val="FF4F9A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44752" y="3182111"/>
            <a:ext cx="4023359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FAFCFF"/>
                </a:solidFill>
                <a:latin typeface="Aptos Display"/>
              </a:rPr>
              <a:t>Length norm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" y="3685031"/>
            <a:ext cx="4453127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B9C6DE"/>
                </a:solidFill>
                <a:latin typeface="Aptos"/>
              </a:rPr>
              <a:t>штраф за слишком длинные документы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3063239"/>
            <a:ext cx="4892040" cy="1353312"/>
          </a:xfrm>
          <a:prstGeom prst="roundRect">
            <a:avLst/>
          </a:prstGeom>
          <a:solidFill>
            <a:srgbClr val="121A3E"/>
          </a:solidFill>
          <a:ln w="17780">
            <a:solidFill>
              <a:srgbClr val="45FF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8231" y="3172968"/>
            <a:ext cx="475488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1">
                <a:solidFill>
                  <a:srgbClr val="45FFBA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76872" y="3182111"/>
            <a:ext cx="4023359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FAFCFF"/>
                </a:solidFill>
                <a:latin typeface="Aptos Display"/>
              </a:rPr>
              <a:t>Сильные места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83096" y="3685031"/>
            <a:ext cx="4453127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B9C6DE"/>
                </a:solidFill>
                <a:latin typeface="Aptos"/>
              </a:rPr>
              <a:t>артикулы, имена, SKU, юридические термины, новые слова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640080" y="-502920"/>
            <a:ext cx="2468880" cy="2468880"/>
          </a:xfrm>
          <a:prstGeom prst="ellipse">
            <a:avLst/>
          </a:prstGeom>
          <a:solidFill>
            <a:srgbClr val="91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241280" y="-411480"/>
            <a:ext cx="2560320" cy="2560320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38360" y="5257800"/>
            <a:ext cx="2834640" cy="2834640"/>
          </a:xfrm>
          <a:prstGeom prst="ellipse">
            <a:avLst/>
          </a:prstGeom>
          <a:solidFill>
            <a:srgbClr val="F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502920" y="5577840"/>
            <a:ext cx="2011680" cy="2011680"/>
          </a:xfrm>
          <a:prstGeom prst="ellipse">
            <a:avLst/>
          </a:prstGeom>
          <a:solidFill>
            <a:srgbClr val="FFB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384048"/>
            <a:ext cx="594360" cy="310896"/>
          </a:xfrm>
          <a:prstGeom prst="round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91028"/>
                </a:solidFill>
                <a:latin typeface="Aptos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320040"/>
            <a:ext cx="1024128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800" b="1">
                <a:solidFill>
                  <a:srgbClr val="FAFCFF"/>
                </a:solidFill>
                <a:latin typeface="Aptos Display"/>
              </a:rPr>
              <a:t>Векторный поиск: поиск по смыслу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822960"/>
            <a:ext cx="100584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0">
                <a:solidFill>
                  <a:srgbClr val="B9C6DE"/>
                </a:solidFill>
                <a:latin typeface="Aptos"/>
              </a:rPr>
              <a:t>Текст превращается в точку в многомерном пространстве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54864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0">
                <a:solidFill>
                  <a:srgbClr val="5C6884"/>
                </a:solidFill>
                <a:latin typeface="Aptos"/>
              </a:rPr>
              <a:t>Information Retrieval: модели, метрики, бизнес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0">
                <a:solidFill>
                  <a:srgbClr val="B9C6DE"/>
                </a:solidFill>
                <a:latin typeface="Aptos"/>
              </a:rPr>
              <a:t>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325880"/>
            <a:ext cx="4892040" cy="1353312"/>
          </a:xfrm>
          <a:prstGeom prst="roundRect">
            <a:avLst/>
          </a:prstGeom>
          <a:solidFill>
            <a:srgbClr val="121A3E"/>
          </a:solidFill>
          <a:ln w="17780">
            <a:solidFill>
              <a:srgbClr val="0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1435607"/>
            <a:ext cx="475488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1">
                <a:solidFill>
                  <a:srgbClr val="00DC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4752" y="1444752"/>
            <a:ext cx="4023359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FAFCFF"/>
                </a:solidFill>
                <a:latin typeface="Aptos Display"/>
              </a:rPr>
              <a:t>Query embedding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1947672"/>
            <a:ext cx="4453127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B9C6DE"/>
                </a:solidFill>
                <a:latin typeface="Aptos"/>
              </a:rPr>
              <a:t>вектор запроса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325880"/>
            <a:ext cx="4892040" cy="1353312"/>
          </a:xfrm>
          <a:prstGeom prst="roundRect">
            <a:avLst/>
          </a:prstGeom>
          <a:solidFill>
            <a:srgbClr val="121A3E"/>
          </a:solidFill>
          <a:ln w="17780">
            <a:solidFill>
              <a:srgbClr val="FF4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8231" y="1435607"/>
            <a:ext cx="475488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1">
                <a:solidFill>
                  <a:srgbClr val="FF4F9A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76872" y="1444752"/>
            <a:ext cx="4023359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FAFCFF"/>
                </a:solidFill>
                <a:latin typeface="Aptos Display"/>
              </a:rPr>
              <a:t>Document embedding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3096" y="1947672"/>
            <a:ext cx="4453127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B9C6DE"/>
                </a:solidFill>
                <a:latin typeface="Aptos"/>
              </a:rPr>
              <a:t>вектор документа считается заранее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063239"/>
            <a:ext cx="4892040" cy="1353312"/>
          </a:xfrm>
          <a:prstGeom prst="roundRect">
            <a:avLst/>
          </a:prstGeom>
          <a:solidFill>
            <a:srgbClr val="121A3E"/>
          </a:solidFill>
          <a:ln w="17780">
            <a:solidFill>
              <a:srgbClr val="FFB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3172968"/>
            <a:ext cx="475488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1">
                <a:solidFill>
                  <a:srgbClr val="FFB240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44752" y="3182111"/>
            <a:ext cx="4023359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FAFCFF"/>
                </a:solidFill>
                <a:latin typeface="Aptos Display"/>
              </a:rPr>
              <a:t>ANN search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" y="3685031"/>
            <a:ext cx="4453127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B9C6DE"/>
                </a:solidFill>
                <a:latin typeface="Aptos"/>
              </a:rPr>
              <a:t>быстро ищем ближайших соседей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3063239"/>
            <a:ext cx="4892040" cy="1353312"/>
          </a:xfrm>
          <a:prstGeom prst="roundRect">
            <a:avLst/>
          </a:prstGeom>
          <a:solidFill>
            <a:srgbClr val="121A3E"/>
          </a:solidFill>
          <a:ln w="17780">
            <a:solidFill>
              <a:srgbClr val="FF59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8231" y="3172968"/>
            <a:ext cx="475488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1">
                <a:solidFill>
                  <a:srgbClr val="FF5975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76872" y="3182111"/>
            <a:ext cx="4023359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FAFCFF"/>
                </a:solidFill>
                <a:latin typeface="Aptos Display"/>
              </a:rPr>
              <a:t>Риск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83096" y="3685031"/>
            <a:ext cx="4453127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B9C6DE"/>
                </a:solidFill>
                <a:latin typeface="Aptos"/>
              </a:rPr>
              <a:t>может проигнорировать критически важный точный термин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617720"/>
            <a:ext cx="10332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>
                <a:solidFill>
                  <a:srgbClr val="00DCFF"/>
                </a:solidFill>
              </a:rPr>
              <a:t>●  </a:t>
            </a:r>
            <a:r>
              <a:rPr sz="1400">
                <a:solidFill>
                  <a:srgbClr val="FAFCFF"/>
                </a:solidFill>
                <a:latin typeface="Aptos"/>
              </a:rPr>
              <a:t>Модели: E5, BGE, Sentence-BERT, DSSM.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00DCFF"/>
                </a:solidFill>
              </a:rPr>
              <a:t>●  </a:t>
            </a:r>
            <a:r>
              <a:rPr sz="1400">
                <a:solidFill>
                  <a:srgbClr val="FAFCFF"/>
                </a:solidFill>
                <a:latin typeface="Aptos"/>
              </a:rPr>
              <a:t>Индексы: HNSW, IVF, PQ, FAISS, ScaNN.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640080" y="-502920"/>
            <a:ext cx="2468880" cy="2468880"/>
          </a:xfrm>
          <a:prstGeom prst="ellipse">
            <a:avLst/>
          </a:prstGeom>
          <a:solidFill>
            <a:srgbClr val="91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241280" y="-411480"/>
            <a:ext cx="2560320" cy="2560320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38360" y="5257800"/>
            <a:ext cx="2834640" cy="2834640"/>
          </a:xfrm>
          <a:prstGeom prst="ellipse">
            <a:avLst/>
          </a:prstGeom>
          <a:solidFill>
            <a:srgbClr val="F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502920" y="5577840"/>
            <a:ext cx="2011680" cy="2011680"/>
          </a:xfrm>
          <a:prstGeom prst="ellipse">
            <a:avLst/>
          </a:prstGeom>
          <a:solidFill>
            <a:srgbClr val="FFB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384048"/>
            <a:ext cx="594360" cy="310896"/>
          </a:xfrm>
          <a:prstGeom prst="round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91028"/>
                </a:solidFill>
                <a:latin typeface="Aptos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320040"/>
            <a:ext cx="1024128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800" b="1">
                <a:solidFill>
                  <a:srgbClr val="FAFCFF"/>
                </a:solidFill>
                <a:latin typeface="Aptos Display"/>
              </a:rPr>
              <a:t>Cross-encoder: точное понимание пары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822960"/>
            <a:ext cx="100584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0">
                <a:solidFill>
                  <a:srgbClr val="B9C6DE"/>
                </a:solidFill>
                <a:latin typeface="Aptos"/>
              </a:rPr>
              <a:t>Медленный, но очень точный этап reranking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54864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0">
                <a:solidFill>
                  <a:srgbClr val="5C6884"/>
                </a:solidFill>
                <a:latin typeface="Aptos"/>
              </a:rPr>
              <a:t>Information Retrieval: модели, метрики, бизнес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0">
                <a:solidFill>
                  <a:srgbClr val="B9C6DE"/>
                </a:solidFill>
                <a:latin typeface="Aptos"/>
              </a:rPr>
              <a:t>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325880"/>
            <a:ext cx="4892040" cy="1353312"/>
          </a:xfrm>
          <a:prstGeom prst="roundRect">
            <a:avLst/>
          </a:prstGeom>
          <a:solidFill>
            <a:srgbClr val="121A3E"/>
          </a:solidFill>
          <a:ln w="17780">
            <a:solidFill>
              <a:srgbClr val="0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1435607"/>
            <a:ext cx="475488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1">
                <a:solidFill>
                  <a:srgbClr val="00DC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4752" y="1444752"/>
            <a:ext cx="4023359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FAFCFF"/>
                </a:solidFill>
                <a:latin typeface="Aptos Display"/>
              </a:rPr>
              <a:t>Query + Document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1947672"/>
            <a:ext cx="4453127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B9C6DE"/>
                </a:solidFill>
                <a:latin typeface="Aptos"/>
              </a:rPr>
              <a:t>подаются в трансформер вместе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325880"/>
            <a:ext cx="4892040" cy="1353312"/>
          </a:xfrm>
          <a:prstGeom prst="roundRect">
            <a:avLst/>
          </a:prstGeom>
          <a:solidFill>
            <a:srgbClr val="121A3E"/>
          </a:solidFill>
          <a:ln w="17780">
            <a:solidFill>
              <a:srgbClr val="FF4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8231" y="1435607"/>
            <a:ext cx="475488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1">
                <a:solidFill>
                  <a:srgbClr val="FF4F9A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76872" y="1444752"/>
            <a:ext cx="4023359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FAFCFF"/>
                </a:solidFill>
                <a:latin typeface="Aptos Display"/>
              </a:rPr>
              <a:t>Attention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3096" y="1947672"/>
            <a:ext cx="4453127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B9C6DE"/>
                </a:solidFill>
                <a:latin typeface="Aptos"/>
              </a:rPr>
              <a:t>видит взаимодействие каждого слова с каждым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063239"/>
            <a:ext cx="4892040" cy="1353312"/>
          </a:xfrm>
          <a:prstGeom prst="roundRect">
            <a:avLst/>
          </a:prstGeom>
          <a:solidFill>
            <a:srgbClr val="121A3E"/>
          </a:solidFill>
          <a:ln w="17780">
            <a:solidFill>
              <a:srgbClr val="45FF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3172968"/>
            <a:ext cx="475488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1">
                <a:solidFill>
                  <a:srgbClr val="45FFBA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44752" y="3182111"/>
            <a:ext cx="4023359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FAFCFF"/>
                </a:solidFill>
                <a:latin typeface="Aptos Display"/>
              </a:rPr>
              <a:t>Relevance Score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" y="3685031"/>
            <a:ext cx="4453127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B9C6DE"/>
                </a:solidFill>
                <a:latin typeface="Aptos"/>
              </a:rPr>
              <a:t>точная оценка релевантности пары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3063239"/>
            <a:ext cx="4892040" cy="1353312"/>
          </a:xfrm>
          <a:prstGeom prst="roundRect">
            <a:avLst/>
          </a:prstGeom>
          <a:solidFill>
            <a:srgbClr val="121A3E"/>
          </a:solidFill>
          <a:ln w="17780">
            <a:solidFill>
              <a:srgbClr val="FF59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8231" y="3172968"/>
            <a:ext cx="475488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1">
                <a:solidFill>
                  <a:srgbClr val="FF5975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76872" y="3182111"/>
            <a:ext cx="4023359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FAFCFF"/>
                </a:solidFill>
                <a:latin typeface="Aptos Display"/>
              </a:rPr>
              <a:t>Ограничение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83096" y="3685031"/>
            <a:ext cx="4453127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B9C6DE"/>
                </a:solidFill>
                <a:latin typeface="Aptos"/>
              </a:rPr>
              <a:t>нельзя прогнать по миллионам документов в realtime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640080" y="-502920"/>
            <a:ext cx="2468880" cy="2468880"/>
          </a:xfrm>
          <a:prstGeom prst="ellipse">
            <a:avLst/>
          </a:prstGeom>
          <a:solidFill>
            <a:srgbClr val="91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241280" y="-411480"/>
            <a:ext cx="2560320" cy="2560320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38360" y="5257800"/>
            <a:ext cx="2834640" cy="2834640"/>
          </a:xfrm>
          <a:prstGeom prst="ellipse">
            <a:avLst/>
          </a:prstGeom>
          <a:solidFill>
            <a:srgbClr val="F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502920" y="5577840"/>
            <a:ext cx="2011680" cy="2011680"/>
          </a:xfrm>
          <a:prstGeom prst="ellipse">
            <a:avLst/>
          </a:prstGeom>
          <a:solidFill>
            <a:srgbClr val="FFB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384048"/>
            <a:ext cx="594360" cy="310896"/>
          </a:xfrm>
          <a:prstGeom prst="round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91028"/>
                </a:solidFill>
                <a:latin typeface="Aptos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320040"/>
            <a:ext cx="1024128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800" b="1">
                <a:solidFill>
                  <a:srgbClr val="FAFCFF"/>
                </a:solidFill>
                <a:latin typeface="Aptos Display"/>
              </a:rPr>
              <a:t>Learning to Rank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822960"/>
            <a:ext cx="100584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0">
                <a:solidFill>
                  <a:srgbClr val="B9C6DE"/>
                </a:solidFill>
                <a:latin typeface="Aptos"/>
              </a:rPr>
              <a:t>Финальная сортировка объединяет текст, поведение и бизнес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54864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0">
                <a:solidFill>
                  <a:srgbClr val="5C6884"/>
                </a:solidFill>
                <a:latin typeface="Aptos"/>
              </a:rPr>
              <a:t>Information Retrieval: модели, метрики, бизнес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0">
                <a:solidFill>
                  <a:srgbClr val="B9C6DE"/>
                </a:solidFill>
                <a:latin typeface="Aptos"/>
              </a:rPr>
              <a:t>11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325880"/>
            <a:ext cx="4892040" cy="1353312"/>
          </a:xfrm>
          <a:prstGeom prst="roundRect">
            <a:avLst/>
          </a:prstGeom>
          <a:solidFill>
            <a:srgbClr val="121A3E"/>
          </a:solidFill>
          <a:ln w="17780">
            <a:solidFill>
              <a:srgbClr val="0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1435607"/>
            <a:ext cx="475488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1">
                <a:solidFill>
                  <a:srgbClr val="00DC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4752" y="1444752"/>
            <a:ext cx="4023359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FAFCFF"/>
                </a:solidFill>
                <a:latin typeface="Aptos Display"/>
              </a:rPr>
              <a:t>Text relevance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1947672"/>
            <a:ext cx="4453127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B9C6DE"/>
                </a:solidFill>
                <a:latin typeface="Aptos"/>
              </a:rPr>
              <a:t>BM25, dense score, cross score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325880"/>
            <a:ext cx="4892040" cy="1353312"/>
          </a:xfrm>
          <a:prstGeom prst="roundRect">
            <a:avLst/>
          </a:prstGeom>
          <a:solidFill>
            <a:srgbClr val="121A3E"/>
          </a:solidFill>
          <a:ln w="17780">
            <a:solidFill>
              <a:srgbClr val="FFB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8231" y="1435607"/>
            <a:ext cx="475488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1">
                <a:solidFill>
                  <a:srgbClr val="FFB240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76872" y="1444752"/>
            <a:ext cx="4023359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FAFCFF"/>
                </a:solidFill>
                <a:latin typeface="Aptos Display"/>
              </a:rPr>
              <a:t>Behavior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3096" y="1947672"/>
            <a:ext cx="4453127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B9C6DE"/>
                </a:solidFill>
                <a:latin typeface="Aptos"/>
              </a:rPr>
              <a:t>CTR, dwell time, purchases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063239"/>
            <a:ext cx="4892040" cy="1353312"/>
          </a:xfrm>
          <a:prstGeom prst="roundRect">
            <a:avLst/>
          </a:prstGeom>
          <a:solidFill>
            <a:srgbClr val="121A3E"/>
          </a:solidFill>
          <a:ln w="17780">
            <a:solidFill>
              <a:srgbClr val="45FF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3172968"/>
            <a:ext cx="475488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1">
                <a:solidFill>
                  <a:srgbClr val="45FFBA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44752" y="3182111"/>
            <a:ext cx="4023359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FAFCFF"/>
                </a:solidFill>
                <a:latin typeface="Aptos Display"/>
              </a:rPr>
              <a:t>Document quality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" y="3685031"/>
            <a:ext cx="4453127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B9C6DE"/>
                </a:solidFill>
                <a:latin typeface="Aptos"/>
              </a:rPr>
              <a:t>freshness, authority, availability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3063239"/>
            <a:ext cx="4892040" cy="1353312"/>
          </a:xfrm>
          <a:prstGeom prst="roundRect">
            <a:avLst/>
          </a:prstGeom>
          <a:solidFill>
            <a:srgbClr val="121A3E"/>
          </a:solidFill>
          <a:ln w="17780">
            <a:solidFill>
              <a:srgbClr val="FF4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8231" y="3172968"/>
            <a:ext cx="475488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1">
                <a:solidFill>
                  <a:srgbClr val="FF4F9A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76872" y="3182111"/>
            <a:ext cx="4023359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FAFCFF"/>
                </a:solidFill>
                <a:latin typeface="Aptos Display"/>
              </a:rPr>
              <a:t>Business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83096" y="3685031"/>
            <a:ext cx="4453127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B9C6DE"/>
                </a:solidFill>
                <a:latin typeface="Aptos"/>
              </a:rPr>
              <a:t>margin, stock, SLA, rules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617720"/>
            <a:ext cx="10332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>
                <a:solidFill>
                  <a:srgbClr val="00DCFF"/>
                </a:solidFill>
              </a:rPr>
              <a:t>●  </a:t>
            </a:r>
            <a:r>
              <a:rPr sz="1400">
                <a:solidFill>
                  <a:srgbClr val="FAFCFF"/>
                </a:solidFill>
                <a:latin typeface="Aptos"/>
              </a:rPr>
              <a:t>Модели: CatBoost, XGBoost, LambdaMART, neural ranker.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00DCFF"/>
                </a:solidFill>
              </a:rPr>
              <a:t>●  </a:t>
            </a:r>
            <a:r>
              <a:rPr sz="1400">
                <a:solidFill>
                  <a:srgbClr val="FAFCFF"/>
                </a:solidFill>
                <a:latin typeface="Aptos"/>
              </a:rPr>
              <a:t>Цель: оптимизировать порядок результатов, а не один бинарный клик.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640080" y="-502920"/>
            <a:ext cx="2468880" cy="2468880"/>
          </a:xfrm>
          <a:prstGeom prst="ellipse">
            <a:avLst/>
          </a:prstGeom>
          <a:solidFill>
            <a:srgbClr val="91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241280" y="-411480"/>
            <a:ext cx="2560320" cy="2560320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38360" y="5257800"/>
            <a:ext cx="2834640" cy="2834640"/>
          </a:xfrm>
          <a:prstGeom prst="ellipse">
            <a:avLst/>
          </a:prstGeom>
          <a:solidFill>
            <a:srgbClr val="F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502920" y="5577840"/>
            <a:ext cx="2011680" cy="2011680"/>
          </a:xfrm>
          <a:prstGeom prst="ellipse">
            <a:avLst/>
          </a:prstGeom>
          <a:solidFill>
            <a:srgbClr val="FFB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384048"/>
            <a:ext cx="594360" cy="310896"/>
          </a:xfrm>
          <a:prstGeom prst="round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91028"/>
                </a:solidFill>
                <a:latin typeface="Aptos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320040"/>
            <a:ext cx="1024128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800" b="1">
                <a:solidFill>
                  <a:srgbClr val="FAFCFF"/>
                </a:solidFill>
                <a:latin typeface="Aptos Display"/>
              </a:rPr>
              <a:t>Каскадная архитектура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822960"/>
            <a:ext cx="100584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0">
                <a:solidFill>
                  <a:srgbClr val="B9C6DE"/>
                </a:solidFill>
                <a:latin typeface="Aptos"/>
              </a:rPr>
              <a:t>Чем дальше по воронке, тем меньше документов и тяжелее модель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54864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0">
                <a:solidFill>
                  <a:srgbClr val="5C6884"/>
                </a:solidFill>
                <a:latin typeface="Aptos"/>
              </a:rPr>
              <a:t>Information Retrieval: модели, метрики, бизнес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0">
                <a:solidFill>
                  <a:srgbClr val="B9C6DE"/>
                </a:solidFill>
                <a:latin typeface="Aptos"/>
              </a:rPr>
              <a:t>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325880"/>
            <a:ext cx="3337560" cy="1353312"/>
          </a:xfrm>
          <a:prstGeom prst="roundRect">
            <a:avLst/>
          </a:prstGeom>
          <a:solidFill>
            <a:srgbClr val="121A3E"/>
          </a:solidFill>
          <a:ln w="17780">
            <a:solidFill>
              <a:srgbClr val="5C68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1435607"/>
            <a:ext cx="475488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1">
                <a:solidFill>
                  <a:srgbClr val="5C6884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07592" y="1444752"/>
            <a:ext cx="246888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FAFCFF"/>
                </a:solidFill>
                <a:latin typeface="Aptos Display"/>
              </a:rPr>
              <a:t>L0 Filters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" y="1947672"/>
            <a:ext cx="2898648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B9C6DE"/>
                </a:solidFill>
                <a:latin typeface="Aptos"/>
              </a:rPr>
              <a:t>10M → 1M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60" y="1325880"/>
            <a:ext cx="3337560" cy="1353312"/>
          </a:xfrm>
          <a:prstGeom prst="roundRect">
            <a:avLst/>
          </a:prstGeom>
          <a:solidFill>
            <a:srgbClr val="121A3E"/>
          </a:solidFill>
          <a:ln w="17780">
            <a:solidFill>
              <a:srgbClr val="0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45152" y="1435607"/>
            <a:ext cx="475488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1">
                <a:solidFill>
                  <a:srgbClr val="00DC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93792" y="1444752"/>
            <a:ext cx="246888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FAFCFF"/>
                </a:solidFill>
                <a:latin typeface="Aptos Display"/>
              </a:rPr>
              <a:t>L1 Retrieval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0016" y="1947672"/>
            <a:ext cx="2898648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B9C6DE"/>
                </a:solidFill>
                <a:latin typeface="Aptos"/>
              </a:rPr>
              <a:t>1M → 1000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66760" y="1325880"/>
            <a:ext cx="3337560" cy="1353312"/>
          </a:xfrm>
          <a:prstGeom prst="roundRect">
            <a:avLst/>
          </a:prstGeom>
          <a:solidFill>
            <a:srgbClr val="121A3E"/>
          </a:solidFill>
          <a:ln w="17780">
            <a:solidFill>
              <a:srgbClr val="FF4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31352" y="1435607"/>
            <a:ext cx="475488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1">
                <a:solidFill>
                  <a:srgbClr val="FF4F9A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9992" y="1444752"/>
            <a:ext cx="246888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FAFCFF"/>
                </a:solidFill>
                <a:latin typeface="Aptos Display"/>
              </a:rPr>
              <a:t>L2 Rerank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86216" y="1947672"/>
            <a:ext cx="2898648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B9C6DE"/>
                </a:solidFill>
                <a:latin typeface="Aptos"/>
              </a:rPr>
              <a:t>1000 → 100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3063239"/>
            <a:ext cx="3337560" cy="1353312"/>
          </a:xfrm>
          <a:prstGeom prst="roundRect">
            <a:avLst/>
          </a:prstGeom>
          <a:solidFill>
            <a:srgbClr val="121A3E"/>
          </a:solidFill>
          <a:ln w="17780">
            <a:solidFill>
              <a:srgbClr val="FFB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2" y="3172968"/>
            <a:ext cx="475488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1">
                <a:solidFill>
                  <a:srgbClr val="FFB240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07592" y="3182111"/>
            <a:ext cx="246888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FAFCFF"/>
                </a:solidFill>
                <a:latin typeface="Aptos Display"/>
              </a:rPr>
              <a:t>L3 Final rank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" y="3685031"/>
            <a:ext cx="2898648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B9C6DE"/>
                </a:solidFill>
                <a:latin typeface="Aptos"/>
              </a:rPr>
              <a:t>100 → 10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80560" y="3063239"/>
            <a:ext cx="3337560" cy="1353312"/>
          </a:xfrm>
          <a:prstGeom prst="roundRect">
            <a:avLst/>
          </a:prstGeom>
          <a:solidFill>
            <a:srgbClr val="121A3E"/>
          </a:solidFill>
          <a:ln w="17780">
            <a:solidFill>
              <a:srgbClr val="45FF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45152" y="3172968"/>
            <a:ext cx="475488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1">
                <a:solidFill>
                  <a:srgbClr val="45FFBA"/>
                </a:solidFill>
                <a:latin typeface="Arial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93792" y="3182111"/>
            <a:ext cx="246888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FAFCFF"/>
                </a:solidFill>
                <a:latin typeface="Aptos Display"/>
              </a:rPr>
              <a:t>UX Layer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00016" y="3685031"/>
            <a:ext cx="2898648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B9C6DE"/>
                </a:solidFill>
                <a:latin typeface="Aptos"/>
              </a:rPr>
              <a:t>snippets, facets, answer blocks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8680" y="4892040"/>
            <a:ext cx="1234440" cy="411480"/>
          </a:xfrm>
          <a:prstGeom prst="roundRect">
            <a:avLst/>
          </a:prstGeom>
          <a:solidFill>
            <a:srgbClr val="5C6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91028"/>
                </a:solidFill>
                <a:latin typeface="Aptos"/>
              </a:rPr>
              <a:t>L0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2103120" y="5102352"/>
            <a:ext cx="868680" cy="0"/>
          </a:xfrm>
          <a:prstGeom prst="line">
            <a:avLst/>
          </a:prstGeom>
          <a:ln w="27940">
            <a:solidFill>
              <a:srgbClr val="5C68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3017520" y="4892040"/>
            <a:ext cx="1234440" cy="411480"/>
          </a:xfrm>
          <a:prstGeom prst="round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91028"/>
                </a:solidFill>
                <a:latin typeface="Aptos"/>
              </a:rPr>
              <a:t>L1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251960" y="5102352"/>
            <a:ext cx="868680" cy="0"/>
          </a:xfrm>
          <a:prstGeom prst="line">
            <a:avLst/>
          </a:prstGeom>
          <a:ln w="27940">
            <a:solidFill>
              <a:srgbClr val="00D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5166360" y="4892040"/>
            <a:ext cx="1234440" cy="411480"/>
          </a:xfrm>
          <a:prstGeom prst="roundRect">
            <a:avLst/>
          </a:prstGeom>
          <a:solidFill>
            <a:srgbClr val="F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91028"/>
                </a:solidFill>
                <a:latin typeface="Aptos"/>
              </a:rPr>
              <a:t>L2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400800" y="5102352"/>
            <a:ext cx="868680" cy="0"/>
          </a:xfrm>
          <a:prstGeom prst="line">
            <a:avLst/>
          </a:prstGeom>
          <a:ln w="27940">
            <a:solidFill>
              <a:srgbClr val="FF4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7315200" y="4892040"/>
            <a:ext cx="1234440" cy="411480"/>
          </a:xfrm>
          <a:prstGeom prst="roundRect">
            <a:avLst/>
          </a:prstGeom>
          <a:solidFill>
            <a:srgbClr val="FFB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91028"/>
                </a:solidFill>
                <a:latin typeface="Aptos"/>
              </a:rPr>
              <a:t>L3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8549640" y="5102352"/>
            <a:ext cx="868680" cy="0"/>
          </a:xfrm>
          <a:prstGeom prst="line">
            <a:avLst/>
          </a:prstGeom>
          <a:ln w="27940">
            <a:solidFill>
              <a:srgbClr val="FFB2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9464040" y="4892040"/>
            <a:ext cx="1234440" cy="411480"/>
          </a:xfrm>
          <a:prstGeom prst="roundRect">
            <a:avLst/>
          </a:prstGeom>
          <a:solidFill>
            <a:srgbClr val="45FF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91028"/>
                </a:solidFill>
                <a:latin typeface="Aptos"/>
              </a:rPr>
              <a:t>UX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640080" y="-502920"/>
            <a:ext cx="2468880" cy="2468880"/>
          </a:xfrm>
          <a:prstGeom prst="ellipse">
            <a:avLst/>
          </a:prstGeom>
          <a:solidFill>
            <a:srgbClr val="91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241280" y="-411480"/>
            <a:ext cx="2560320" cy="2560320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38360" y="5257800"/>
            <a:ext cx="2834640" cy="2834640"/>
          </a:xfrm>
          <a:prstGeom prst="ellipse">
            <a:avLst/>
          </a:prstGeom>
          <a:solidFill>
            <a:srgbClr val="F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502920" y="5577840"/>
            <a:ext cx="2011680" cy="2011680"/>
          </a:xfrm>
          <a:prstGeom prst="ellipse">
            <a:avLst/>
          </a:prstGeom>
          <a:solidFill>
            <a:srgbClr val="FFB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384048"/>
            <a:ext cx="594360" cy="310896"/>
          </a:xfrm>
          <a:prstGeom prst="round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91028"/>
                </a:solidFill>
                <a:latin typeface="Aptos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320040"/>
            <a:ext cx="1024128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800" b="1">
                <a:solidFill>
                  <a:srgbClr val="FAFCFF"/>
                </a:solidFill>
                <a:latin typeface="Aptos Display"/>
              </a:rPr>
              <a:t>ИИ-метрики: offline-качество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822960"/>
            <a:ext cx="100584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0">
                <a:solidFill>
                  <a:srgbClr val="B9C6DE"/>
                </a:solidFill>
                <a:latin typeface="Aptos"/>
              </a:rPr>
              <a:t>Помогают сравнивать модели до запуска на пользователей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54864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0">
                <a:solidFill>
                  <a:srgbClr val="5C6884"/>
                </a:solidFill>
                <a:latin typeface="Aptos"/>
              </a:rPr>
              <a:t>Information Retrieval: модели, метрики, бизнес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0">
                <a:solidFill>
                  <a:srgbClr val="B9C6DE"/>
                </a:solidFill>
                <a:latin typeface="Aptos"/>
              </a:rPr>
              <a:t>13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325880"/>
            <a:ext cx="4892040" cy="1353312"/>
          </a:xfrm>
          <a:prstGeom prst="roundRect">
            <a:avLst/>
          </a:prstGeom>
          <a:solidFill>
            <a:srgbClr val="121A3E"/>
          </a:solidFill>
          <a:ln w="17780">
            <a:solidFill>
              <a:srgbClr val="0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1435607"/>
            <a:ext cx="475488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1">
                <a:solidFill>
                  <a:srgbClr val="00DC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4752" y="1444752"/>
            <a:ext cx="4023359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FAFCFF"/>
                </a:solidFill>
                <a:latin typeface="Aptos Display"/>
              </a:rPr>
              <a:t>Precision@K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1947672"/>
            <a:ext cx="4453127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B9C6DE"/>
                </a:solidFill>
                <a:latin typeface="Aptos"/>
              </a:rPr>
              <a:t>доля релевантных среди top-K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325880"/>
            <a:ext cx="4892040" cy="1353312"/>
          </a:xfrm>
          <a:prstGeom prst="roundRect">
            <a:avLst/>
          </a:prstGeom>
          <a:solidFill>
            <a:srgbClr val="121A3E"/>
          </a:solidFill>
          <a:ln w="17780">
            <a:solidFill>
              <a:srgbClr val="FFB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8231" y="1435607"/>
            <a:ext cx="475488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1">
                <a:solidFill>
                  <a:srgbClr val="FFB240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76872" y="1444752"/>
            <a:ext cx="4023359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FAFCFF"/>
                </a:solidFill>
                <a:latin typeface="Aptos Display"/>
              </a:rPr>
              <a:t>Recall@K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3096" y="1947672"/>
            <a:ext cx="4453127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B9C6DE"/>
                </a:solidFill>
                <a:latin typeface="Aptos"/>
              </a:rPr>
              <a:t>доля найденных релевантных документов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063239"/>
            <a:ext cx="4892040" cy="1353312"/>
          </a:xfrm>
          <a:prstGeom prst="roundRect">
            <a:avLst/>
          </a:prstGeom>
          <a:solidFill>
            <a:srgbClr val="121A3E"/>
          </a:solidFill>
          <a:ln w="17780">
            <a:solidFill>
              <a:srgbClr val="FF4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3172968"/>
            <a:ext cx="475488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1">
                <a:solidFill>
                  <a:srgbClr val="FF4F9A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44752" y="3182111"/>
            <a:ext cx="4023359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FAFCFF"/>
                </a:solidFill>
                <a:latin typeface="Aptos Display"/>
              </a:rPr>
              <a:t>MRR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" y="3685031"/>
            <a:ext cx="4453127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B9C6DE"/>
                </a:solidFill>
                <a:latin typeface="Aptos"/>
              </a:rPr>
              <a:t>насколько высоко первый хороший ответ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3063239"/>
            <a:ext cx="4892040" cy="1353312"/>
          </a:xfrm>
          <a:prstGeom prst="roundRect">
            <a:avLst/>
          </a:prstGeom>
          <a:solidFill>
            <a:srgbClr val="121A3E"/>
          </a:solidFill>
          <a:ln w="17780">
            <a:solidFill>
              <a:srgbClr val="45FF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8231" y="3172968"/>
            <a:ext cx="475488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1">
                <a:solidFill>
                  <a:srgbClr val="45FFBA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76872" y="3182111"/>
            <a:ext cx="4023359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FAFCFF"/>
                </a:solidFill>
                <a:latin typeface="Aptos Display"/>
              </a:rPr>
              <a:t>NDCG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83096" y="3685031"/>
            <a:ext cx="4453127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B9C6DE"/>
                </a:solidFill>
                <a:latin typeface="Aptos"/>
              </a:rPr>
              <a:t>качество порядка с градациями релевантности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617720"/>
            <a:ext cx="10332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>
                <a:solidFill>
                  <a:srgbClr val="00DCFF"/>
                </a:solidFill>
              </a:rPr>
              <a:t>●  </a:t>
            </a:r>
            <a:r>
              <a:rPr sz="1400">
                <a:solidFill>
                  <a:srgbClr val="FAFCFF"/>
                </a:solidFill>
                <a:latin typeface="Aptos"/>
              </a:rPr>
              <a:t>Offline-метрики ускоряют разработку, но не доказывают бизнес-эффект.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640080" y="-502920"/>
            <a:ext cx="2468880" cy="2468880"/>
          </a:xfrm>
          <a:prstGeom prst="ellipse">
            <a:avLst/>
          </a:prstGeom>
          <a:solidFill>
            <a:srgbClr val="91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241280" y="-411480"/>
            <a:ext cx="2560320" cy="2560320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38360" y="5257800"/>
            <a:ext cx="2834640" cy="2834640"/>
          </a:xfrm>
          <a:prstGeom prst="ellipse">
            <a:avLst/>
          </a:prstGeom>
          <a:solidFill>
            <a:srgbClr val="F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502920" y="5577840"/>
            <a:ext cx="2011680" cy="2011680"/>
          </a:xfrm>
          <a:prstGeom prst="ellipse">
            <a:avLst/>
          </a:prstGeom>
          <a:solidFill>
            <a:srgbClr val="FFB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384048"/>
            <a:ext cx="594360" cy="310896"/>
          </a:xfrm>
          <a:prstGeom prst="round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91028"/>
                </a:solidFill>
                <a:latin typeface="Aptos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320040"/>
            <a:ext cx="1024128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800" b="1">
                <a:solidFill>
                  <a:srgbClr val="FAFCFF"/>
                </a:solidFill>
                <a:latin typeface="Aptos Display"/>
              </a:rPr>
              <a:t>NDCG: почему порядок важен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822960"/>
            <a:ext cx="100584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0">
                <a:solidFill>
                  <a:srgbClr val="B9C6DE"/>
                </a:solidFill>
                <a:latin typeface="Aptos"/>
              </a:rPr>
              <a:t>Ошибка на первой позиции стоит дороже, чем ошибка внизу выдачи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54864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0">
                <a:solidFill>
                  <a:srgbClr val="5C6884"/>
                </a:solidFill>
                <a:latin typeface="Aptos"/>
              </a:rPr>
              <a:t>Information Retrieval: модели, метрики, бизнес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0">
                <a:solidFill>
                  <a:srgbClr val="B9C6DE"/>
                </a:solidFill>
                <a:latin typeface="Aptos"/>
              </a:rPr>
              <a:t>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325880"/>
            <a:ext cx="4892040" cy="1353312"/>
          </a:xfrm>
          <a:prstGeom prst="roundRect">
            <a:avLst/>
          </a:prstGeom>
          <a:solidFill>
            <a:srgbClr val="121A3E"/>
          </a:solidFill>
          <a:ln w="17780">
            <a:solidFill>
              <a:srgbClr val="45FF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1435607"/>
            <a:ext cx="475488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1">
                <a:solidFill>
                  <a:srgbClr val="45FFBA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4752" y="1444752"/>
            <a:ext cx="4023359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FAFCFF"/>
                </a:solidFill>
                <a:latin typeface="Aptos Display"/>
              </a:rPr>
              <a:t>Graded relevance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1947672"/>
            <a:ext cx="4453127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B9C6DE"/>
                </a:solidFill>
                <a:latin typeface="Aptos"/>
              </a:rPr>
              <a:t>идеально / хорошо / средне / плохо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325880"/>
            <a:ext cx="4892040" cy="1353312"/>
          </a:xfrm>
          <a:prstGeom prst="roundRect">
            <a:avLst/>
          </a:prstGeom>
          <a:solidFill>
            <a:srgbClr val="121A3E"/>
          </a:solidFill>
          <a:ln w="17780">
            <a:solidFill>
              <a:srgbClr val="0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8231" y="1435607"/>
            <a:ext cx="475488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1">
                <a:solidFill>
                  <a:srgbClr val="00DC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76872" y="1444752"/>
            <a:ext cx="4023359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FAFCFF"/>
                </a:solidFill>
                <a:latin typeface="Aptos Display"/>
              </a:rPr>
              <a:t>Discount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3096" y="1947672"/>
            <a:ext cx="4453127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B9C6DE"/>
                </a:solidFill>
                <a:latin typeface="Aptos"/>
              </a:rPr>
              <a:t>верхние позиции важнее нижних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063239"/>
            <a:ext cx="4892040" cy="1353312"/>
          </a:xfrm>
          <a:prstGeom prst="roundRect">
            <a:avLst/>
          </a:prstGeom>
          <a:solidFill>
            <a:srgbClr val="121A3E"/>
          </a:solidFill>
          <a:ln w="17780">
            <a:solidFill>
              <a:srgbClr val="FFB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3172968"/>
            <a:ext cx="475488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1">
                <a:solidFill>
                  <a:srgbClr val="FFB240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44752" y="3182111"/>
            <a:ext cx="4023359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FAFCFF"/>
                </a:solidFill>
                <a:latin typeface="Aptos Display"/>
              </a:rPr>
              <a:t>Normalization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" y="3685031"/>
            <a:ext cx="4453127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B9C6DE"/>
                </a:solidFill>
                <a:latin typeface="Aptos"/>
              </a:rPr>
              <a:t>можно сравнивать разные запросы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3063239"/>
            <a:ext cx="4892040" cy="1353312"/>
          </a:xfrm>
          <a:prstGeom prst="roundRect">
            <a:avLst/>
          </a:prstGeom>
          <a:solidFill>
            <a:srgbClr val="121A3E"/>
          </a:solidFill>
          <a:ln w="17780">
            <a:solidFill>
              <a:srgbClr val="FF4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8231" y="3172968"/>
            <a:ext cx="475488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1">
                <a:solidFill>
                  <a:srgbClr val="FF4F9A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76872" y="3182111"/>
            <a:ext cx="4023359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FAFCFF"/>
                </a:solidFill>
                <a:latin typeface="Aptos Display"/>
              </a:rPr>
              <a:t>Золотой стандарт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83096" y="3685031"/>
            <a:ext cx="4453127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B9C6DE"/>
                </a:solidFill>
                <a:latin typeface="Aptos"/>
              </a:rPr>
              <a:t>основная метрика для ranking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640080" y="-502920"/>
            <a:ext cx="2468880" cy="2468880"/>
          </a:xfrm>
          <a:prstGeom prst="ellipse">
            <a:avLst/>
          </a:prstGeom>
          <a:solidFill>
            <a:srgbClr val="91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241280" y="-411480"/>
            <a:ext cx="2560320" cy="2560320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38360" y="5257800"/>
            <a:ext cx="2834640" cy="2834640"/>
          </a:xfrm>
          <a:prstGeom prst="ellipse">
            <a:avLst/>
          </a:prstGeom>
          <a:solidFill>
            <a:srgbClr val="F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502920" y="5577840"/>
            <a:ext cx="2011680" cy="2011680"/>
          </a:xfrm>
          <a:prstGeom prst="ellipse">
            <a:avLst/>
          </a:prstGeom>
          <a:solidFill>
            <a:srgbClr val="FFB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384048"/>
            <a:ext cx="594360" cy="310896"/>
          </a:xfrm>
          <a:prstGeom prst="round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91028"/>
                </a:solidFill>
                <a:latin typeface="Aptos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320040"/>
            <a:ext cx="1024128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800" b="1">
                <a:solidFill>
                  <a:srgbClr val="FAFCFF"/>
                </a:solidFill>
                <a:latin typeface="Aptos Display"/>
              </a:rPr>
              <a:t>Бизнес-метрики: online-эффект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822960"/>
            <a:ext cx="100584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0">
                <a:solidFill>
                  <a:srgbClr val="B9C6DE"/>
                </a:solidFill>
                <a:latin typeface="Aptos"/>
              </a:rPr>
              <a:t>Пользователям и бизнесу стало лучше?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54864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0">
                <a:solidFill>
                  <a:srgbClr val="5C6884"/>
                </a:solidFill>
                <a:latin typeface="Aptos"/>
              </a:rPr>
              <a:t>Information Retrieval: модели, метрики, бизнес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0">
                <a:solidFill>
                  <a:srgbClr val="B9C6DE"/>
                </a:solidFill>
                <a:latin typeface="Aptos"/>
              </a:rPr>
              <a:t>15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325880"/>
            <a:ext cx="3337560" cy="1353312"/>
          </a:xfrm>
          <a:prstGeom prst="roundRect">
            <a:avLst/>
          </a:prstGeom>
          <a:solidFill>
            <a:srgbClr val="121A3E"/>
          </a:solidFill>
          <a:ln w="17780">
            <a:solidFill>
              <a:srgbClr val="0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1435607"/>
            <a:ext cx="475488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1">
                <a:solidFill>
                  <a:srgbClr val="00DC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07592" y="1444752"/>
            <a:ext cx="246888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FAFCFF"/>
                </a:solidFill>
                <a:latin typeface="Aptos Display"/>
              </a:rPr>
              <a:t>CTR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" y="1947672"/>
            <a:ext cx="2898648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B9C6DE"/>
                </a:solidFill>
                <a:latin typeface="Aptos"/>
              </a:rPr>
              <a:t>пользователь нашёл что-то кликабельное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60" y="1325880"/>
            <a:ext cx="3337560" cy="1353312"/>
          </a:xfrm>
          <a:prstGeom prst="roundRect">
            <a:avLst/>
          </a:prstGeom>
          <a:solidFill>
            <a:srgbClr val="121A3E"/>
          </a:solidFill>
          <a:ln w="17780">
            <a:solidFill>
              <a:srgbClr val="45FF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45152" y="1435607"/>
            <a:ext cx="475488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1">
                <a:solidFill>
                  <a:srgbClr val="45FFBA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93792" y="1444752"/>
            <a:ext cx="246888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FAFCFF"/>
                </a:solidFill>
                <a:latin typeface="Aptos Display"/>
              </a:rPr>
              <a:t>Conversion 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0016" y="1947672"/>
            <a:ext cx="2898648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B9C6DE"/>
                </a:solidFill>
                <a:latin typeface="Aptos"/>
              </a:rPr>
              <a:t>поиск привёл к целевому действию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66760" y="1325880"/>
            <a:ext cx="3337560" cy="1353312"/>
          </a:xfrm>
          <a:prstGeom prst="roundRect">
            <a:avLst/>
          </a:prstGeom>
          <a:solidFill>
            <a:srgbClr val="121A3E"/>
          </a:solidFill>
          <a:ln w="17780">
            <a:solidFill>
              <a:srgbClr val="FF59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31352" y="1435607"/>
            <a:ext cx="475488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1">
                <a:solidFill>
                  <a:srgbClr val="FF5975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9992" y="1444752"/>
            <a:ext cx="246888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FAFCFF"/>
                </a:solidFill>
                <a:latin typeface="Aptos Display"/>
              </a:rPr>
              <a:t>Zero Result 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86216" y="1947672"/>
            <a:ext cx="2898648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B9C6DE"/>
                </a:solidFill>
                <a:latin typeface="Aptos"/>
              </a:rPr>
              <a:t>сколько запросов вернули пустоту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3063239"/>
            <a:ext cx="3337560" cy="1353312"/>
          </a:xfrm>
          <a:prstGeom prst="roundRect">
            <a:avLst/>
          </a:prstGeom>
          <a:solidFill>
            <a:srgbClr val="121A3E"/>
          </a:solidFill>
          <a:ln w="17780">
            <a:solidFill>
              <a:srgbClr val="FFB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2" y="3172968"/>
            <a:ext cx="475488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1">
                <a:solidFill>
                  <a:srgbClr val="FFB240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07592" y="3182111"/>
            <a:ext cx="246888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FAFCFF"/>
                </a:solidFill>
                <a:latin typeface="Aptos Display"/>
              </a:rPr>
              <a:t>Revenue / Search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" y="3685031"/>
            <a:ext cx="2898648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B9C6DE"/>
                </a:solidFill>
                <a:latin typeface="Aptos"/>
              </a:rPr>
              <a:t>ценность на одну поисковую сессию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80560" y="3063239"/>
            <a:ext cx="3337560" cy="1353312"/>
          </a:xfrm>
          <a:prstGeom prst="roundRect">
            <a:avLst/>
          </a:prstGeom>
          <a:solidFill>
            <a:srgbClr val="121A3E"/>
          </a:solidFill>
          <a:ln w="17780">
            <a:solidFill>
              <a:srgbClr val="FF4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45152" y="3172968"/>
            <a:ext cx="475488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1">
                <a:solidFill>
                  <a:srgbClr val="FF4F9A"/>
                </a:solidFill>
                <a:latin typeface="Arial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93792" y="3182111"/>
            <a:ext cx="246888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FAFCFF"/>
                </a:solidFill>
                <a:latin typeface="Aptos Display"/>
              </a:rPr>
              <a:t>Time to Success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00016" y="3685031"/>
            <a:ext cx="2898648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B9C6DE"/>
                </a:solidFill>
                <a:latin typeface="Aptos"/>
              </a:rPr>
              <a:t>как быстро пользователь решил задачу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66760" y="3063239"/>
            <a:ext cx="3337560" cy="1353312"/>
          </a:xfrm>
          <a:prstGeom prst="roundRect">
            <a:avLst/>
          </a:prstGeom>
          <a:solidFill>
            <a:srgbClr val="121A3E"/>
          </a:solidFill>
          <a:ln w="17780">
            <a:solidFill>
              <a:srgbClr val="91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31352" y="3172968"/>
            <a:ext cx="475488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1">
                <a:solidFill>
                  <a:srgbClr val="915AFF"/>
                </a:solidFill>
                <a:latin typeface="Arial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79992" y="3182111"/>
            <a:ext cx="246888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FAFCFF"/>
                </a:solidFill>
                <a:latin typeface="Aptos Display"/>
              </a:rPr>
              <a:t>Retention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86216" y="3685031"/>
            <a:ext cx="2898648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B9C6DE"/>
                </a:solidFill>
                <a:latin typeface="Aptos"/>
              </a:rPr>
              <a:t>возвращается ли пользователь после поиска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640080" y="-502920"/>
            <a:ext cx="2468880" cy="2468880"/>
          </a:xfrm>
          <a:prstGeom prst="ellipse">
            <a:avLst/>
          </a:prstGeom>
          <a:solidFill>
            <a:srgbClr val="91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241280" y="-411480"/>
            <a:ext cx="2560320" cy="2560320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38360" y="5257800"/>
            <a:ext cx="2834640" cy="2834640"/>
          </a:xfrm>
          <a:prstGeom prst="ellipse">
            <a:avLst/>
          </a:prstGeom>
          <a:solidFill>
            <a:srgbClr val="F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502920" y="5577840"/>
            <a:ext cx="2011680" cy="2011680"/>
          </a:xfrm>
          <a:prstGeom prst="ellipse">
            <a:avLst/>
          </a:prstGeom>
          <a:solidFill>
            <a:srgbClr val="FFB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384048"/>
            <a:ext cx="594360" cy="310896"/>
          </a:xfrm>
          <a:prstGeom prst="round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91028"/>
                </a:solidFill>
                <a:latin typeface="Aptos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320040"/>
            <a:ext cx="1024128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800" b="1">
                <a:solidFill>
                  <a:srgbClr val="FAFCFF"/>
                </a:solidFill>
                <a:latin typeface="Aptos Display"/>
              </a:rPr>
              <a:t>Связь ML и бизнеса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822960"/>
            <a:ext cx="100584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0">
                <a:solidFill>
                  <a:srgbClr val="B9C6DE"/>
                </a:solidFill>
                <a:latin typeface="Aptos"/>
              </a:rPr>
              <a:t>ML-метрики — прокси, бизнес-метрики — финальный судья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54864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0">
                <a:solidFill>
                  <a:srgbClr val="5C6884"/>
                </a:solidFill>
                <a:latin typeface="Aptos"/>
              </a:rPr>
              <a:t>Information Retrieval: модели, метрики, бизнес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0">
                <a:solidFill>
                  <a:srgbClr val="B9C6DE"/>
                </a:solidFill>
                <a:latin typeface="Aptos"/>
              </a:rPr>
              <a:t>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325880"/>
            <a:ext cx="4892040" cy="1353312"/>
          </a:xfrm>
          <a:prstGeom prst="roundRect">
            <a:avLst/>
          </a:prstGeom>
          <a:solidFill>
            <a:srgbClr val="121A3E"/>
          </a:solidFill>
          <a:ln w="17780">
            <a:solidFill>
              <a:srgbClr val="0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1435607"/>
            <a:ext cx="475488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1">
                <a:solidFill>
                  <a:srgbClr val="00DC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4752" y="1444752"/>
            <a:ext cx="4023359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FAFCFF"/>
                </a:solidFill>
                <a:latin typeface="Aptos Display"/>
              </a:rPr>
              <a:t>NDCG 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1947672"/>
            <a:ext cx="4453127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B9C6DE"/>
                </a:solidFill>
                <a:latin typeface="Aptos"/>
              </a:rPr>
              <a:t>лучшие документы выше → CTR может вырасти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325880"/>
            <a:ext cx="4892040" cy="1353312"/>
          </a:xfrm>
          <a:prstGeom prst="roundRect">
            <a:avLst/>
          </a:prstGeom>
          <a:solidFill>
            <a:srgbClr val="121A3E"/>
          </a:solidFill>
          <a:ln w="17780">
            <a:solidFill>
              <a:srgbClr val="FFB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8231" y="1435607"/>
            <a:ext cx="475488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1">
                <a:solidFill>
                  <a:srgbClr val="FFB240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76872" y="1444752"/>
            <a:ext cx="4023359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FAFCFF"/>
                </a:solidFill>
                <a:latin typeface="Aptos Display"/>
              </a:rPr>
              <a:t>Recall@K 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3096" y="1947672"/>
            <a:ext cx="4453127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B9C6DE"/>
                </a:solidFill>
                <a:latin typeface="Aptos"/>
              </a:rPr>
              <a:t>меньше потерянных кандидатов → ZRR снижается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063239"/>
            <a:ext cx="4892040" cy="1353312"/>
          </a:xfrm>
          <a:prstGeom prst="roundRect">
            <a:avLst/>
          </a:prstGeom>
          <a:solidFill>
            <a:srgbClr val="121A3E"/>
          </a:solidFill>
          <a:ln w="17780">
            <a:solidFill>
              <a:srgbClr val="45FF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3172968"/>
            <a:ext cx="475488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1">
                <a:solidFill>
                  <a:srgbClr val="45FFBA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44752" y="3182111"/>
            <a:ext cx="4023359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FAFCFF"/>
                </a:solidFill>
                <a:latin typeface="Aptos Display"/>
              </a:rPr>
              <a:t>MRR 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" y="3685031"/>
            <a:ext cx="4453127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B9C6DE"/>
                </a:solidFill>
                <a:latin typeface="Aptos"/>
              </a:rPr>
              <a:t>первый полезный ответ ближе → Time to Success ниже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3063239"/>
            <a:ext cx="4892040" cy="1353312"/>
          </a:xfrm>
          <a:prstGeom prst="roundRect">
            <a:avLst/>
          </a:prstGeom>
          <a:solidFill>
            <a:srgbClr val="121A3E"/>
          </a:solidFill>
          <a:ln w="17780">
            <a:solidFill>
              <a:srgbClr val="FF59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8231" y="3172968"/>
            <a:ext cx="475488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1">
                <a:solidFill>
                  <a:srgbClr val="FF5975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76872" y="3182111"/>
            <a:ext cx="4023359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FAFCFF"/>
                </a:solidFill>
                <a:latin typeface="Aptos Display"/>
              </a:rPr>
              <a:t>Оговорка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83096" y="3685031"/>
            <a:ext cx="4453127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B9C6DE"/>
                </a:solidFill>
                <a:latin typeface="Aptos"/>
              </a:rPr>
              <a:t>релевантность не всегда равна выручке: нужны наличие, цена, маржа и UX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640080" y="-502920"/>
            <a:ext cx="2468880" cy="2468880"/>
          </a:xfrm>
          <a:prstGeom prst="ellipse">
            <a:avLst/>
          </a:prstGeom>
          <a:solidFill>
            <a:srgbClr val="91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241280" y="-411480"/>
            <a:ext cx="2560320" cy="2560320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38360" y="5257800"/>
            <a:ext cx="2834640" cy="2834640"/>
          </a:xfrm>
          <a:prstGeom prst="ellipse">
            <a:avLst/>
          </a:prstGeom>
          <a:solidFill>
            <a:srgbClr val="F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502920" y="5577840"/>
            <a:ext cx="2011680" cy="2011680"/>
          </a:xfrm>
          <a:prstGeom prst="ellipse">
            <a:avLst/>
          </a:prstGeom>
          <a:solidFill>
            <a:srgbClr val="FFB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384048"/>
            <a:ext cx="594360" cy="310896"/>
          </a:xfrm>
          <a:prstGeom prst="round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91028"/>
                </a:solidFill>
                <a:latin typeface="Aptos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320040"/>
            <a:ext cx="1024128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800" b="1">
                <a:solidFill>
                  <a:srgbClr val="FAFCFF"/>
                </a:solidFill>
                <a:latin typeface="Aptos Display"/>
              </a:rPr>
              <a:t>A/B-тестирование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822960"/>
            <a:ext cx="100584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0">
                <a:solidFill>
                  <a:srgbClr val="B9C6DE"/>
                </a:solidFill>
                <a:latin typeface="Aptos"/>
              </a:rPr>
              <a:t>Мост между offline-моделью и реальным бизнес-результатом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54864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0">
                <a:solidFill>
                  <a:srgbClr val="5C6884"/>
                </a:solidFill>
                <a:latin typeface="Aptos"/>
              </a:rPr>
              <a:t>Information Retrieval: модели, метрики, бизнес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0">
                <a:solidFill>
                  <a:srgbClr val="B9C6DE"/>
                </a:solidFill>
                <a:latin typeface="Aptos"/>
              </a:rPr>
              <a:t>17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325880"/>
            <a:ext cx="4892040" cy="1353312"/>
          </a:xfrm>
          <a:prstGeom prst="roundRect">
            <a:avLst/>
          </a:prstGeom>
          <a:solidFill>
            <a:srgbClr val="121A3E"/>
          </a:solidFill>
          <a:ln w="17780">
            <a:solidFill>
              <a:srgbClr val="0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1435607"/>
            <a:ext cx="475488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1">
                <a:solidFill>
                  <a:srgbClr val="00DC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4752" y="1444752"/>
            <a:ext cx="4023359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FAFCFF"/>
                </a:solidFill>
                <a:latin typeface="Aptos Display"/>
              </a:rPr>
              <a:t>Гипотеза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1947672"/>
            <a:ext cx="4453127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B9C6DE"/>
                </a:solidFill>
                <a:latin typeface="Aptos"/>
              </a:rPr>
              <a:t>новый reranker повысит NDCG и CTR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325880"/>
            <a:ext cx="4892040" cy="1353312"/>
          </a:xfrm>
          <a:prstGeom prst="roundRect">
            <a:avLst/>
          </a:prstGeom>
          <a:solidFill>
            <a:srgbClr val="121A3E"/>
          </a:solidFill>
          <a:ln w="17780">
            <a:solidFill>
              <a:srgbClr val="FFB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8231" y="1435607"/>
            <a:ext cx="475488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1">
                <a:solidFill>
                  <a:srgbClr val="FFB240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76872" y="1444752"/>
            <a:ext cx="4023359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FAFCFF"/>
                </a:solidFill>
                <a:latin typeface="Aptos Display"/>
              </a:rPr>
              <a:t>Offline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3096" y="1947672"/>
            <a:ext cx="4453127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B9C6DE"/>
                </a:solidFill>
                <a:latin typeface="Aptos"/>
              </a:rPr>
              <a:t>валидация на assessor labels и логах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063239"/>
            <a:ext cx="4892040" cy="1353312"/>
          </a:xfrm>
          <a:prstGeom prst="roundRect">
            <a:avLst/>
          </a:prstGeom>
          <a:solidFill>
            <a:srgbClr val="121A3E"/>
          </a:solidFill>
          <a:ln w="17780">
            <a:solidFill>
              <a:srgbClr val="FF4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3172968"/>
            <a:ext cx="475488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1">
                <a:solidFill>
                  <a:srgbClr val="FF4F9A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44752" y="3182111"/>
            <a:ext cx="4023359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FAFCFF"/>
                </a:solidFill>
                <a:latin typeface="Aptos Display"/>
              </a:rPr>
              <a:t>A/B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" y="3685031"/>
            <a:ext cx="4453127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B9C6DE"/>
                </a:solidFill>
                <a:latin typeface="Aptos"/>
              </a:rPr>
              <a:t>часть трафика получает новую выдачу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3063239"/>
            <a:ext cx="4892040" cy="1353312"/>
          </a:xfrm>
          <a:prstGeom prst="roundRect">
            <a:avLst/>
          </a:prstGeom>
          <a:solidFill>
            <a:srgbClr val="121A3E"/>
          </a:solidFill>
          <a:ln w="17780">
            <a:solidFill>
              <a:srgbClr val="45FF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8231" y="3172968"/>
            <a:ext cx="475488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1">
                <a:solidFill>
                  <a:srgbClr val="45FFBA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76872" y="3182111"/>
            <a:ext cx="4023359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FAFCFF"/>
                </a:solidFill>
                <a:latin typeface="Aptos Display"/>
              </a:rPr>
              <a:t>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83096" y="3685031"/>
            <a:ext cx="4453127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B9C6DE"/>
                </a:solidFill>
                <a:latin typeface="Aptos"/>
              </a:rPr>
              <a:t>катим, откатываем или дорабатываем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617720"/>
            <a:ext cx="10332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>
                <a:solidFill>
                  <a:srgbClr val="00DCFF"/>
                </a:solidFill>
              </a:rPr>
              <a:t>●  </a:t>
            </a:r>
            <a:r>
              <a:rPr sz="1400">
                <a:solidFill>
                  <a:srgbClr val="FAFCFF"/>
                </a:solidFill>
                <a:latin typeface="Aptos"/>
              </a:rPr>
              <a:t>Guardrails: latency, ошибки, жалобы, zero results.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00DCFF"/>
                </a:solidFill>
              </a:rPr>
              <a:t>●  </a:t>
            </a:r>
            <a:r>
              <a:rPr sz="1400">
                <a:solidFill>
                  <a:srgbClr val="FAFCFF"/>
                </a:solidFill>
                <a:latin typeface="Aptos"/>
              </a:rPr>
              <a:t>Нужен сегментный анализ: новые пользователи, длинный хвост, категории.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640080" y="-502920"/>
            <a:ext cx="2468880" cy="2468880"/>
          </a:xfrm>
          <a:prstGeom prst="ellipse">
            <a:avLst/>
          </a:prstGeom>
          <a:solidFill>
            <a:srgbClr val="91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241280" y="-411480"/>
            <a:ext cx="2560320" cy="2560320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38360" y="5257800"/>
            <a:ext cx="2834640" cy="2834640"/>
          </a:xfrm>
          <a:prstGeom prst="ellipse">
            <a:avLst/>
          </a:prstGeom>
          <a:solidFill>
            <a:srgbClr val="F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502920" y="5577840"/>
            <a:ext cx="2011680" cy="2011680"/>
          </a:xfrm>
          <a:prstGeom prst="ellipse">
            <a:avLst/>
          </a:prstGeom>
          <a:solidFill>
            <a:srgbClr val="FFB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384048"/>
            <a:ext cx="594360" cy="310896"/>
          </a:xfrm>
          <a:prstGeom prst="round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91028"/>
                </a:solidFill>
                <a:latin typeface="Aptos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320040"/>
            <a:ext cx="1024128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800" b="1">
                <a:solidFill>
                  <a:srgbClr val="FAFCFF"/>
                </a:solidFill>
                <a:latin typeface="Aptos Display"/>
              </a:rPr>
              <a:t>Данные для обучения и оценки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822960"/>
            <a:ext cx="100584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0">
                <a:solidFill>
                  <a:srgbClr val="B9C6DE"/>
                </a:solidFill>
                <a:latin typeface="Aptos"/>
              </a:rPr>
              <a:t>Качество разметки часто важнее выбора архитектуры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54864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0">
                <a:solidFill>
                  <a:srgbClr val="5C6884"/>
                </a:solidFill>
                <a:latin typeface="Aptos"/>
              </a:rPr>
              <a:t>Information Retrieval: модели, метрики, бизнес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0">
                <a:solidFill>
                  <a:srgbClr val="B9C6DE"/>
                </a:solidFill>
                <a:latin typeface="Aptos"/>
              </a:rPr>
              <a:t>18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325880"/>
            <a:ext cx="4892040" cy="1353312"/>
          </a:xfrm>
          <a:prstGeom prst="roundRect">
            <a:avLst/>
          </a:prstGeom>
          <a:solidFill>
            <a:srgbClr val="121A3E"/>
          </a:solidFill>
          <a:ln w="17780">
            <a:solidFill>
              <a:srgbClr val="0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1435607"/>
            <a:ext cx="475488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1">
                <a:solidFill>
                  <a:srgbClr val="00DC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4752" y="1444752"/>
            <a:ext cx="4023359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FAFCFF"/>
                </a:solidFill>
                <a:latin typeface="Aptos Display"/>
              </a:rPr>
              <a:t>Assessor labels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1947672"/>
            <a:ext cx="4453127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B9C6DE"/>
                </a:solidFill>
                <a:latin typeface="Aptos"/>
              </a:rPr>
              <a:t>эксперты оценивают query-document пары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325880"/>
            <a:ext cx="4892040" cy="1353312"/>
          </a:xfrm>
          <a:prstGeom prst="roundRect">
            <a:avLst/>
          </a:prstGeom>
          <a:solidFill>
            <a:srgbClr val="121A3E"/>
          </a:solidFill>
          <a:ln w="17780">
            <a:solidFill>
              <a:srgbClr val="FFB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8231" y="1435607"/>
            <a:ext cx="475488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1">
                <a:solidFill>
                  <a:srgbClr val="FFB240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76872" y="1444752"/>
            <a:ext cx="4023359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FAFCFF"/>
                </a:solidFill>
                <a:latin typeface="Aptos Display"/>
              </a:rPr>
              <a:t>Click logs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3096" y="1947672"/>
            <a:ext cx="4453127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B9C6DE"/>
                </a:solidFill>
                <a:latin typeface="Aptos"/>
              </a:rPr>
              <a:t>клики, dwell time, покупки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063239"/>
            <a:ext cx="4892040" cy="1353312"/>
          </a:xfrm>
          <a:prstGeom prst="roundRect">
            <a:avLst/>
          </a:prstGeom>
          <a:solidFill>
            <a:srgbClr val="121A3E"/>
          </a:solidFill>
          <a:ln w="17780">
            <a:solidFill>
              <a:srgbClr val="FF4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3172968"/>
            <a:ext cx="475488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1">
                <a:solidFill>
                  <a:srgbClr val="FF4F9A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44752" y="3182111"/>
            <a:ext cx="4023359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FAFCFF"/>
                </a:solidFill>
                <a:latin typeface="Aptos Display"/>
              </a:rPr>
              <a:t>Synthetic 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" y="3685031"/>
            <a:ext cx="4453127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B9C6DE"/>
                </a:solidFill>
                <a:latin typeface="Aptos"/>
              </a:rPr>
              <a:t>LLM генерирует пары и hard negatives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3063239"/>
            <a:ext cx="4892040" cy="1353312"/>
          </a:xfrm>
          <a:prstGeom prst="roundRect">
            <a:avLst/>
          </a:prstGeom>
          <a:solidFill>
            <a:srgbClr val="121A3E"/>
          </a:solidFill>
          <a:ln w="17780">
            <a:solidFill>
              <a:srgbClr val="45FF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8231" y="3172968"/>
            <a:ext cx="475488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1">
                <a:solidFill>
                  <a:srgbClr val="45FFBA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76872" y="3182111"/>
            <a:ext cx="4023359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FAFCFF"/>
                </a:solidFill>
                <a:latin typeface="Aptos Display"/>
              </a:rPr>
              <a:t>Bias correction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83096" y="3685031"/>
            <a:ext cx="4453127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B9C6DE"/>
                </a:solidFill>
                <a:latin typeface="Aptos"/>
              </a:rPr>
              <a:t>позиционный bias и влияние старой выдачи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640080" y="-502920"/>
            <a:ext cx="2468880" cy="2468880"/>
          </a:xfrm>
          <a:prstGeom prst="ellipse">
            <a:avLst/>
          </a:prstGeom>
          <a:solidFill>
            <a:srgbClr val="91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241280" y="-411480"/>
            <a:ext cx="2560320" cy="2560320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38360" y="5257800"/>
            <a:ext cx="2834640" cy="2834640"/>
          </a:xfrm>
          <a:prstGeom prst="ellipse">
            <a:avLst/>
          </a:prstGeom>
          <a:solidFill>
            <a:srgbClr val="F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502920" y="5577840"/>
            <a:ext cx="2011680" cy="2011680"/>
          </a:xfrm>
          <a:prstGeom prst="ellipse">
            <a:avLst/>
          </a:prstGeom>
          <a:solidFill>
            <a:srgbClr val="FFB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384048"/>
            <a:ext cx="594360" cy="310896"/>
          </a:xfrm>
          <a:prstGeom prst="round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91028"/>
                </a:solidFill>
                <a:latin typeface="Aptos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320040"/>
            <a:ext cx="1024128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800" b="1">
                <a:solidFill>
                  <a:srgbClr val="FAFCFF"/>
                </a:solidFill>
                <a:latin typeface="Aptos Display"/>
              </a:rPr>
              <a:t>RAG: когда поиск становится ответом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822960"/>
            <a:ext cx="100584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0">
                <a:solidFill>
                  <a:srgbClr val="B9C6DE"/>
                </a:solidFill>
                <a:latin typeface="Aptos"/>
              </a:rPr>
              <a:t>Retrieval-Augmented Generation соединяет IR и LLM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54864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0">
                <a:solidFill>
                  <a:srgbClr val="5C6884"/>
                </a:solidFill>
                <a:latin typeface="Aptos"/>
              </a:rPr>
              <a:t>Information Retrieval: модели, метрики, бизнес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0">
                <a:solidFill>
                  <a:srgbClr val="B9C6DE"/>
                </a:solidFill>
                <a:latin typeface="Aptos"/>
              </a:rPr>
              <a:t>19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325880"/>
            <a:ext cx="4892040" cy="1353312"/>
          </a:xfrm>
          <a:prstGeom prst="roundRect">
            <a:avLst/>
          </a:prstGeom>
          <a:solidFill>
            <a:srgbClr val="121A3E"/>
          </a:solidFill>
          <a:ln w="17780">
            <a:solidFill>
              <a:srgbClr val="0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1435607"/>
            <a:ext cx="475488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1">
                <a:solidFill>
                  <a:srgbClr val="00DC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4752" y="1444752"/>
            <a:ext cx="4023359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FAFCFF"/>
                </a:solidFill>
                <a:latin typeface="Aptos Display"/>
              </a:rPr>
              <a:t>Retrieve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1947672"/>
            <a:ext cx="4453127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B9C6DE"/>
                </a:solidFill>
                <a:latin typeface="Aptos"/>
              </a:rPr>
              <a:t>найти факты и источники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325880"/>
            <a:ext cx="4892040" cy="1353312"/>
          </a:xfrm>
          <a:prstGeom prst="roundRect">
            <a:avLst/>
          </a:prstGeom>
          <a:solidFill>
            <a:srgbClr val="121A3E"/>
          </a:solidFill>
          <a:ln w="17780">
            <a:solidFill>
              <a:srgbClr val="FF4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8231" y="1435607"/>
            <a:ext cx="475488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1">
                <a:solidFill>
                  <a:srgbClr val="FF4F9A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76872" y="1444752"/>
            <a:ext cx="4023359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FAFCFF"/>
                </a:solidFill>
                <a:latin typeface="Aptos Display"/>
              </a:rPr>
              <a:t>Augment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3096" y="1947672"/>
            <a:ext cx="4453127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B9C6DE"/>
                </a:solidFill>
                <a:latin typeface="Aptos"/>
              </a:rPr>
              <a:t>положить контекст в prompt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063239"/>
            <a:ext cx="4892040" cy="1353312"/>
          </a:xfrm>
          <a:prstGeom prst="roundRect">
            <a:avLst/>
          </a:prstGeom>
          <a:solidFill>
            <a:srgbClr val="121A3E"/>
          </a:solidFill>
          <a:ln w="17780">
            <a:solidFill>
              <a:srgbClr val="FFB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3172968"/>
            <a:ext cx="475488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1">
                <a:solidFill>
                  <a:srgbClr val="FFB240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44752" y="3182111"/>
            <a:ext cx="4023359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FAFCFF"/>
                </a:solidFill>
                <a:latin typeface="Aptos Display"/>
              </a:rPr>
              <a:t>Generate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" y="3685031"/>
            <a:ext cx="4453127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B9C6DE"/>
                </a:solidFill>
                <a:latin typeface="Aptos"/>
              </a:rPr>
              <a:t>собрать ответ со ссылками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3063239"/>
            <a:ext cx="4892040" cy="1353312"/>
          </a:xfrm>
          <a:prstGeom prst="roundRect">
            <a:avLst/>
          </a:prstGeom>
          <a:solidFill>
            <a:srgbClr val="121A3E"/>
          </a:solidFill>
          <a:ln w="17780">
            <a:solidFill>
              <a:srgbClr val="45FF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8231" y="3172968"/>
            <a:ext cx="475488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1">
                <a:solidFill>
                  <a:srgbClr val="45FFBA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76872" y="3182111"/>
            <a:ext cx="4023359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FAFCFF"/>
                </a:solidFill>
                <a:latin typeface="Aptos Display"/>
              </a:rPr>
              <a:t>Verify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83096" y="3685031"/>
            <a:ext cx="4453127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B9C6DE"/>
                </a:solidFill>
                <a:latin typeface="Aptos"/>
              </a:rPr>
              <a:t>проверить grounding и качество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617720"/>
            <a:ext cx="10332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>
                <a:solidFill>
                  <a:srgbClr val="00DCFF"/>
                </a:solidFill>
              </a:rPr>
              <a:t>●  </a:t>
            </a:r>
            <a:r>
              <a:rPr sz="1400">
                <a:solidFill>
                  <a:srgbClr val="FAFCFF"/>
                </a:solidFill>
                <a:latin typeface="Aptos"/>
              </a:rPr>
              <a:t>RAG не отменяет поиск: качество retrieval определяет, будет ли ответ grounded.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00DCFF"/>
                </a:solidFill>
              </a:rPr>
              <a:t>●  </a:t>
            </a:r>
            <a:r>
              <a:rPr sz="1400">
                <a:solidFill>
                  <a:srgbClr val="FAFCFF"/>
                </a:solidFill>
                <a:latin typeface="Aptos"/>
              </a:rPr>
              <a:t>Новые метрики: faithfulness, answer relevance, context precision, citation correctness.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640080" y="-502920"/>
            <a:ext cx="2468880" cy="2468880"/>
          </a:xfrm>
          <a:prstGeom prst="ellipse">
            <a:avLst/>
          </a:prstGeom>
          <a:solidFill>
            <a:srgbClr val="91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241280" y="-411480"/>
            <a:ext cx="2560320" cy="2560320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38360" y="5257800"/>
            <a:ext cx="2834640" cy="2834640"/>
          </a:xfrm>
          <a:prstGeom prst="ellipse">
            <a:avLst/>
          </a:prstGeom>
          <a:solidFill>
            <a:srgbClr val="F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502920" y="5577840"/>
            <a:ext cx="2011680" cy="2011680"/>
          </a:xfrm>
          <a:prstGeom prst="ellipse">
            <a:avLst/>
          </a:prstGeom>
          <a:solidFill>
            <a:srgbClr val="FFB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384048"/>
            <a:ext cx="594360" cy="310896"/>
          </a:xfrm>
          <a:prstGeom prst="round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91028"/>
                </a:solidFill>
                <a:latin typeface="Aptos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320040"/>
            <a:ext cx="1024128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800" b="1">
                <a:solidFill>
                  <a:srgbClr val="FAFCFF"/>
                </a:solidFill>
                <a:latin typeface="Aptos Display"/>
              </a:rPr>
              <a:t>Мониторинг production-поиска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822960"/>
            <a:ext cx="100584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0">
                <a:solidFill>
                  <a:srgbClr val="B9C6DE"/>
                </a:solidFill>
                <a:latin typeface="Aptos"/>
              </a:rPr>
              <a:t>После релиза система продолжает учиться и ломаться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54864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0">
                <a:solidFill>
                  <a:srgbClr val="5C6884"/>
                </a:solidFill>
                <a:latin typeface="Aptos"/>
              </a:rPr>
              <a:t>Information Retrieval: модели, метрики, бизнес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0">
                <a:solidFill>
                  <a:srgbClr val="B9C6DE"/>
                </a:solidFill>
                <a:latin typeface="Aptos"/>
              </a:rPr>
              <a:t>20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325880"/>
            <a:ext cx="4892040" cy="1353312"/>
          </a:xfrm>
          <a:prstGeom prst="roundRect">
            <a:avLst/>
          </a:prstGeom>
          <a:solidFill>
            <a:srgbClr val="121A3E"/>
          </a:solidFill>
          <a:ln w="17780">
            <a:solidFill>
              <a:srgbClr val="FF4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1435607"/>
            <a:ext cx="475488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1">
                <a:solidFill>
                  <a:srgbClr val="FF4F9A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4752" y="1444752"/>
            <a:ext cx="4023359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FAFCFF"/>
                </a:solidFill>
                <a:latin typeface="Aptos Display"/>
              </a:rPr>
              <a:t>Quality drift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1947672"/>
            <a:ext cx="4453127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B9C6DE"/>
                </a:solidFill>
                <a:latin typeface="Aptos"/>
              </a:rPr>
              <a:t>меняется язык пользователей и ассортимент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325880"/>
            <a:ext cx="4892040" cy="1353312"/>
          </a:xfrm>
          <a:prstGeom prst="roundRect">
            <a:avLst/>
          </a:prstGeom>
          <a:solidFill>
            <a:srgbClr val="121A3E"/>
          </a:solidFill>
          <a:ln w="17780">
            <a:solidFill>
              <a:srgbClr val="0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8231" y="1435607"/>
            <a:ext cx="475488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1">
                <a:solidFill>
                  <a:srgbClr val="00DC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76872" y="1444752"/>
            <a:ext cx="4023359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FAFCFF"/>
                </a:solidFill>
                <a:latin typeface="Aptos Display"/>
              </a:rPr>
              <a:t>Latency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3096" y="1947672"/>
            <a:ext cx="4453127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B9C6DE"/>
                </a:solidFill>
                <a:latin typeface="Aptos"/>
              </a:rPr>
              <a:t>p95/p99 влияют на UX и конверсию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063239"/>
            <a:ext cx="4892040" cy="1353312"/>
          </a:xfrm>
          <a:prstGeom prst="roundRect">
            <a:avLst/>
          </a:prstGeom>
          <a:solidFill>
            <a:srgbClr val="121A3E"/>
          </a:solidFill>
          <a:ln w="17780">
            <a:solidFill>
              <a:srgbClr val="FFB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3172968"/>
            <a:ext cx="475488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1">
                <a:solidFill>
                  <a:srgbClr val="FFB240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44752" y="3182111"/>
            <a:ext cx="4023359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FAFCFF"/>
                </a:solidFill>
                <a:latin typeface="Aptos Display"/>
              </a:rPr>
              <a:t>Coverage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" y="3685031"/>
            <a:ext cx="4453127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B9C6DE"/>
                </a:solidFill>
                <a:latin typeface="Aptos"/>
              </a:rPr>
              <a:t>пустые выдачи, фильтры, новые документы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3063239"/>
            <a:ext cx="4892040" cy="1353312"/>
          </a:xfrm>
          <a:prstGeom prst="roundRect">
            <a:avLst/>
          </a:prstGeom>
          <a:solidFill>
            <a:srgbClr val="121A3E"/>
          </a:solidFill>
          <a:ln w="17780">
            <a:solidFill>
              <a:srgbClr val="45FF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8231" y="3172968"/>
            <a:ext cx="475488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1">
                <a:solidFill>
                  <a:srgbClr val="45FFBA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76872" y="3182111"/>
            <a:ext cx="4023359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FAFCFF"/>
                </a:solidFill>
                <a:latin typeface="Aptos Display"/>
              </a:rPr>
              <a:t>Policy &amp; safety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83096" y="3685031"/>
            <a:ext cx="4453127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B9C6DE"/>
                </a:solidFill>
                <a:latin typeface="Aptos"/>
              </a:rPr>
              <a:t>перекосы, запрещённый контент, prompt injection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640080" y="-502920"/>
            <a:ext cx="2468880" cy="2468880"/>
          </a:xfrm>
          <a:prstGeom prst="ellipse">
            <a:avLst/>
          </a:prstGeom>
          <a:solidFill>
            <a:srgbClr val="91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241280" y="-411480"/>
            <a:ext cx="2560320" cy="2560320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38360" y="5257800"/>
            <a:ext cx="2834640" cy="2834640"/>
          </a:xfrm>
          <a:prstGeom prst="ellipse">
            <a:avLst/>
          </a:prstGeom>
          <a:solidFill>
            <a:srgbClr val="F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502920" y="5577840"/>
            <a:ext cx="2011680" cy="2011680"/>
          </a:xfrm>
          <a:prstGeom prst="ellipse">
            <a:avLst/>
          </a:prstGeom>
          <a:solidFill>
            <a:srgbClr val="FFB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384048"/>
            <a:ext cx="594360" cy="310896"/>
          </a:xfrm>
          <a:prstGeom prst="round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91028"/>
                </a:solidFill>
                <a:latin typeface="Aptos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320040"/>
            <a:ext cx="1024128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800" b="1">
                <a:solidFill>
                  <a:srgbClr val="FAFCFF"/>
                </a:solidFill>
                <a:latin typeface="Aptos Display"/>
              </a:rPr>
              <a:t>Полный цикл разработки IR-системы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822960"/>
            <a:ext cx="100584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0">
                <a:solidFill>
                  <a:srgbClr val="B9C6DE"/>
                </a:solidFill>
                <a:latin typeface="Aptos"/>
              </a:rPr>
              <a:t>От бизнес-задачи до постоянного улучшения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54864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0">
                <a:solidFill>
                  <a:srgbClr val="5C6884"/>
                </a:solidFill>
                <a:latin typeface="Aptos"/>
              </a:rPr>
              <a:t>Information Retrieval: модели, метрики, бизнес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0">
                <a:solidFill>
                  <a:srgbClr val="B9C6DE"/>
                </a:solidFill>
                <a:latin typeface="Aptos"/>
              </a:rPr>
              <a:t>21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325880"/>
            <a:ext cx="3337560" cy="1353312"/>
          </a:xfrm>
          <a:prstGeom prst="roundRect">
            <a:avLst/>
          </a:prstGeom>
          <a:solidFill>
            <a:srgbClr val="121A3E"/>
          </a:solidFill>
          <a:ln w="17780">
            <a:solidFill>
              <a:srgbClr val="0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1435607"/>
            <a:ext cx="475488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1">
                <a:solidFill>
                  <a:srgbClr val="00DC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07592" y="1444752"/>
            <a:ext cx="246888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FAFCFF"/>
                </a:solidFill>
                <a:latin typeface="Aptos Display"/>
              </a:rPr>
              <a:t>Problem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" y="1947672"/>
            <a:ext cx="2898648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B9C6DE"/>
                </a:solidFill>
                <a:latin typeface="Aptos"/>
              </a:rPr>
              <a:t>цель, сегменты, ограничения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60" y="1325880"/>
            <a:ext cx="3337560" cy="1353312"/>
          </a:xfrm>
          <a:prstGeom prst="roundRect">
            <a:avLst/>
          </a:prstGeom>
          <a:solidFill>
            <a:srgbClr val="121A3E"/>
          </a:solidFill>
          <a:ln w="17780">
            <a:solidFill>
              <a:srgbClr val="FFB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45152" y="1435607"/>
            <a:ext cx="475488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1">
                <a:solidFill>
                  <a:srgbClr val="FFB240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93792" y="1444752"/>
            <a:ext cx="246888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FAFCFF"/>
                </a:solidFill>
                <a:latin typeface="Aptos Display"/>
              </a:rPr>
              <a:t>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0016" y="1947672"/>
            <a:ext cx="2898648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B9C6DE"/>
                </a:solidFill>
                <a:latin typeface="Aptos"/>
              </a:rPr>
              <a:t>логи, разметка, negatives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66760" y="1325880"/>
            <a:ext cx="3337560" cy="1353312"/>
          </a:xfrm>
          <a:prstGeom prst="roundRect">
            <a:avLst/>
          </a:prstGeom>
          <a:solidFill>
            <a:srgbClr val="121A3E"/>
          </a:solidFill>
          <a:ln w="17780">
            <a:solidFill>
              <a:srgbClr val="FF4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31352" y="1435607"/>
            <a:ext cx="475488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1">
                <a:solidFill>
                  <a:srgbClr val="FF4F9A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9992" y="1444752"/>
            <a:ext cx="246888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FAFCFF"/>
                </a:solidFill>
                <a:latin typeface="Aptos Display"/>
              </a:rPr>
              <a:t>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86216" y="1947672"/>
            <a:ext cx="2898648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B9C6DE"/>
                </a:solidFill>
                <a:latin typeface="Aptos"/>
              </a:rPr>
              <a:t>retrieval + ranking + RAG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3063239"/>
            <a:ext cx="3337560" cy="1353312"/>
          </a:xfrm>
          <a:prstGeom prst="roundRect">
            <a:avLst/>
          </a:prstGeom>
          <a:solidFill>
            <a:srgbClr val="121A3E"/>
          </a:solidFill>
          <a:ln w="17780">
            <a:solidFill>
              <a:srgbClr val="45FF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2" y="3172968"/>
            <a:ext cx="475488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1">
                <a:solidFill>
                  <a:srgbClr val="45FFBA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07592" y="3182111"/>
            <a:ext cx="246888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FAFCFF"/>
                </a:solidFill>
                <a:latin typeface="Aptos Display"/>
              </a:rPr>
              <a:t>Eval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" y="3685031"/>
            <a:ext cx="2898648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B9C6DE"/>
                </a:solidFill>
                <a:latin typeface="Aptos"/>
              </a:rPr>
              <a:t>offline metrics и error analysis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80560" y="3063239"/>
            <a:ext cx="3337560" cy="1353312"/>
          </a:xfrm>
          <a:prstGeom prst="roundRect">
            <a:avLst/>
          </a:prstGeom>
          <a:solidFill>
            <a:srgbClr val="121A3E"/>
          </a:solidFill>
          <a:ln w="17780">
            <a:solidFill>
              <a:srgbClr val="91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45152" y="3172968"/>
            <a:ext cx="475488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1">
                <a:solidFill>
                  <a:srgbClr val="915AFF"/>
                </a:solidFill>
                <a:latin typeface="Arial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93792" y="3182111"/>
            <a:ext cx="246888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FAFCFF"/>
                </a:solidFill>
                <a:latin typeface="Aptos Display"/>
              </a:rPr>
              <a:t>Experiment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00016" y="3685031"/>
            <a:ext cx="2898648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B9C6DE"/>
                </a:solidFill>
                <a:latin typeface="Aptos"/>
              </a:rPr>
              <a:t>A/B test и guardrails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66760" y="3063239"/>
            <a:ext cx="3337560" cy="1353312"/>
          </a:xfrm>
          <a:prstGeom prst="roundRect">
            <a:avLst/>
          </a:prstGeom>
          <a:solidFill>
            <a:srgbClr val="121A3E"/>
          </a:solidFill>
          <a:ln w="17780">
            <a:solidFill>
              <a:srgbClr val="FFE6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31352" y="3172968"/>
            <a:ext cx="475488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1">
                <a:solidFill>
                  <a:srgbClr val="FFE66D"/>
                </a:solidFill>
                <a:latin typeface="Arial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79992" y="3182111"/>
            <a:ext cx="246888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FAFCFF"/>
                </a:solidFill>
                <a:latin typeface="Aptos Display"/>
              </a:rPr>
              <a:t>Monitor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86216" y="3685031"/>
            <a:ext cx="2898648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B9C6DE"/>
                </a:solidFill>
                <a:latin typeface="Aptos"/>
              </a:rPr>
              <a:t>production loop и retraining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" y="4983480"/>
            <a:ext cx="1143000" cy="384048"/>
          </a:xfrm>
          <a:prstGeom prst="round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91028"/>
                </a:solidFill>
                <a:latin typeface="Aptos"/>
              </a:rPr>
              <a:t>Problem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2057400" y="5175504"/>
            <a:ext cx="548640" cy="0"/>
          </a:xfrm>
          <a:prstGeom prst="line">
            <a:avLst/>
          </a:prstGeom>
          <a:ln w="27940">
            <a:solidFill>
              <a:srgbClr val="00D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2606040" y="4983480"/>
            <a:ext cx="1143000" cy="384048"/>
          </a:xfrm>
          <a:prstGeom prst="roundRect">
            <a:avLst/>
          </a:prstGeom>
          <a:solidFill>
            <a:srgbClr val="FFB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91028"/>
                </a:solidFill>
                <a:latin typeface="Aptos"/>
              </a:rPr>
              <a:t>Data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3749039" y="5175504"/>
            <a:ext cx="548641" cy="0"/>
          </a:xfrm>
          <a:prstGeom prst="line">
            <a:avLst/>
          </a:prstGeom>
          <a:ln w="27940">
            <a:solidFill>
              <a:srgbClr val="FFB2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4297680" y="4983480"/>
            <a:ext cx="1143000" cy="384048"/>
          </a:xfrm>
          <a:prstGeom prst="roundRect">
            <a:avLst/>
          </a:prstGeom>
          <a:solidFill>
            <a:srgbClr val="F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91028"/>
                </a:solidFill>
                <a:latin typeface="Aptos"/>
              </a:rPr>
              <a:t>Model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440680" y="5175504"/>
            <a:ext cx="548640" cy="0"/>
          </a:xfrm>
          <a:prstGeom prst="line">
            <a:avLst/>
          </a:prstGeom>
          <a:ln w="27940">
            <a:solidFill>
              <a:srgbClr val="FF4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5989320" y="4983480"/>
            <a:ext cx="1143000" cy="384048"/>
          </a:xfrm>
          <a:prstGeom prst="roundRect">
            <a:avLst/>
          </a:prstGeom>
          <a:solidFill>
            <a:srgbClr val="45FF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91028"/>
                </a:solidFill>
                <a:latin typeface="Aptos"/>
              </a:rPr>
              <a:t>Eval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132320" y="5175504"/>
            <a:ext cx="548640" cy="0"/>
          </a:xfrm>
          <a:prstGeom prst="line">
            <a:avLst/>
          </a:prstGeom>
          <a:ln w="27940">
            <a:solidFill>
              <a:srgbClr val="45FF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7680960" y="4983480"/>
            <a:ext cx="1143000" cy="384048"/>
          </a:xfrm>
          <a:prstGeom prst="roundRect">
            <a:avLst/>
          </a:prstGeom>
          <a:solidFill>
            <a:srgbClr val="91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91028"/>
                </a:solidFill>
                <a:latin typeface="Aptos"/>
              </a:rPr>
              <a:t>A/B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8823960" y="5175504"/>
            <a:ext cx="548640" cy="0"/>
          </a:xfrm>
          <a:prstGeom prst="line">
            <a:avLst/>
          </a:prstGeom>
          <a:ln w="27940">
            <a:solidFill>
              <a:srgbClr val="915A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9372600" y="4983480"/>
            <a:ext cx="1143000" cy="384048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91028"/>
                </a:solidFill>
                <a:latin typeface="Aptos"/>
              </a:rPr>
              <a:t>Monitor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640080" y="-502920"/>
            <a:ext cx="2468880" cy="2468880"/>
          </a:xfrm>
          <a:prstGeom prst="ellipse">
            <a:avLst/>
          </a:prstGeom>
          <a:solidFill>
            <a:srgbClr val="91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241280" y="-411480"/>
            <a:ext cx="2560320" cy="2560320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38360" y="5257800"/>
            <a:ext cx="2834640" cy="2834640"/>
          </a:xfrm>
          <a:prstGeom prst="ellipse">
            <a:avLst/>
          </a:prstGeom>
          <a:solidFill>
            <a:srgbClr val="F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502920" y="5577840"/>
            <a:ext cx="2011680" cy="2011680"/>
          </a:xfrm>
          <a:prstGeom prst="ellipse">
            <a:avLst/>
          </a:prstGeom>
          <a:solidFill>
            <a:srgbClr val="FFB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384048"/>
            <a:ext cx="594360" cy="310896"/>
          </a:xfrm>
          <a:prstGeom prst="round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91028"/>
                </a:solidFill>
                <a:latin typeface="Aptos"/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320040"/>
            <a:ext cx="1024128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800" b="1">
                <a:solidFill>
                  <a:srgbClr val="FAFCFF"/>
                </a:solidFill>
                <a:latin typeface="Aptos Display"/>
              </a:rPr>
              <a:t>Типичные ошибки в поиске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822960"/>
            <a:ext cx="100584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0">
                <a:solidFill>
                  <a:srgbClr val="B9C6DE"/>
                </a:solidFill>
                <a:latin typeface="Aptos"/>
              </a:rPr>
              <a:t>Что ломает качество даже при сильных моделях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54864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0">
                <a:solidFill>
                  <a:srgbClr val="5C6884"/>
                </a:solidFill>
                <a:latin typeface="Aptos"/>
              </a:rPr>
              <a:t>Information Retrieval: модели, метрики, бизнес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0">
                <a:solidFill>
                  <a:srgbClr val="B9C6DE"/>
                </a:solidFill>
                <a:latin typeface="Aptos"/>
              </a:rPr>
              <a:t>22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325880"/>
            <a:ext cx="3337560" cy="1353312"/>
          </a:xfrm>
          <a:prstGeom prst="roundRect">
            <a:avLst/>
          </a:prstGeom>
          <a:solidFill>
            <a:srgbClr val="121A3E"/>
          </a:solidFill>
          <a:ln w="17780">
            <a:solidFill>
              <a:srgbClr val="FF59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1435607"/>
            <a:ext cx="475488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1">
                <a:solidFill>
                  <a:srgbClr val="FF5975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07592" y="1444752"/>
            <a:ext cx="246888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FAFCFF"/>
                </a:solidFill>
                <a:latin typeface="Aptos Display"/>
              </a:rPr>
              <a:t>Только CTR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" y="1947672"/>
            <a:ext cx="2898648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B9C6DE"/>
                </a:solidFill>
                <a:latin typeface="Aptos"/>
              </a:rPr>
              <a:t>модель учится на кликбейте и position bias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60" y="1325880"/>
            <a:ext cx="3337560" cy="1353312"/>
          </a:xfrm>
          <a:prstGeom prst="roundRect">
            <a:avLst/>
          </a:prstGeom>
          <a:solidFill>
            <a:srgbClr val="121A3E"/>
          </a:solidFill>
          <a:ln w="17780">
            <a:solidFill>
              <a:srgbClr val="FFB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45152" y="1435607"/>
            <a:ext cx="475488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1">
                <a:solidFill>
                  <a:srgbClr val="FFB240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93792" y="1444752"/>
            <a:ext cx="246888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FAFCFF"/>
                </a:solidFill>
                <a:latin typeface="Aptos Display"/>
              </a:rPr>
              <a:t>Только semantic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0016" y="1947672"/>
            <a:ext cx="2898648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B9C6DE"/>
                </a:solidFill>
                <a:latin typeface="Aptos"/>
              </a:rPr>
              <a:t>теряются точные термины и артикулы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66760" y="1325880"/>
            <a:ext cx="3337560" cy="1353312"/>
          </a:xfrm>
          <a:prstGeom prst="roundRect">
            <a:avLst/>
          </a:prstGeom>
          <a:solidFill>
            <a:srgbClr val="121A3E"/>
          </a:solidFill>
          <a:ln w="17780">
            <a:solidFill>
              <a:srgbClr val="FF4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31352" y="1435607"/>
            <a:ext cx="475488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1">
                <a:solidFill>
                  <a:srgbClr val="FF4F9A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9992" y="1444752"/>
            <a:ext cx="246888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FAFCFF"/>
                </a:solidFill>
                <a:latin typeface="Aptos Display"/>
              </a:rPr>
              <a:t>Нет сегментов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86216" y="1947672"/>
            <a:ext cx="2898648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B9C6DE"/>
                </a:solidFill>
                <a:latin typeface="Aptos"/>
              </a:rPr>
              <a:t>средний рост скрывает провалы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3063239"/>
            <a:ext cx="3337560" cy="1353312"/>
          </a:xfrm>
          <a:prstGeom prst="roundRect">
            <a:avLst/>
          </a:prstGeom>
          <a:solidFill>
            <a:srgbClr val="121A3E"/>
          </a:solidFill>
          <a:ln w="17780">
            <a:solidFill>
              <a:srgbClr val="0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2" y="3172968"/>
            <a:ext cx="475488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1">
                <a:solidFill>
                  <a:srgbClr val="00DC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07592" y="3182111"/>
            <a:ext cx="246888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FAFCFF"/>
                </a:solidFill>
                <a:latin typeface="Aptos Display"/>
              </a:rPr>
              <a:t>Нет observability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" y="3685031"/>
            <a:ext cx="2898648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B9C6DE"/>
                </a:solidFill>
                <a:latin typeface="Aptos"/>
              </a:rPr>
              <a:t>качество деградирует незаметно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80560" y="3063239"/>
            <a:ext cx="3337560" cy="1353312"/>
          </a:xfrm>
          <a:prstGeom prst="roundRect">
            <a:avLst/>
          </a:prstGeom>
          <a:solidFill>
            <a:srgbClr val="121A3E"/>
          </a:solidFill>
          <a:ln w="17780">
            <a:solidFill>
              <a:srgbClr val="45FF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45152" y="3172968"/>
            <a:ext cx="475488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1">
                <a:solidFill>
                  <a:srgbClr val="45FFBA"/>
                </a:solidFill>
                <a:latin typeface="Arial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93792" y="3182111"/>
            <a:ext cx="246888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FAFCFF"/>
                </a:solidFill>
                <a:latin typeface="Aptos Display"/>
              </a:rPr>
              <a:t>Нет human labels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00016" y="3685031"/>
            <a:ext cx="2898648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B9C6DE"/>
                </a:solidFill>
                <a:latin typeface="Aptos"/>
              </a:rPr>
              <a:t>offline-оценка становится шумной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66760" y="3063239"/>
            <a:ext cx="3337560" cy="1353312"/>
          </a:xfrm>
          <a:prstGeom prst="roundRect">
            <a:avLst/>
          </a:prstGeom>
          <a:solidFill>
            <a:srgbClr val="121A3E"/>
          </a:solidFill>
          <a:ln w="17780">
            <a:solidFill>
              <a:srgbClr val="91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31352" y="3172968"/>
            <a:ext cx="475488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1">
                <a:solidFill>
                  <a:srgbClr val="915AFF"/>
                </a:solidFill>
                <a:latin typeface="Arial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79992" y="3182111"/>
            <a:ext cx="246888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FAFCFF"/>
                </a:solidFill>
                <a:latin typeface="Aptos Display"/>
              </a:rPr>
              <a:t>Нет rollback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86216" y="3685031"/>
            <a:ext cx="2898648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B9C6DE"/>
                </a:solidFill>
                <a:latin typeface="Aptos"/>
              </a:rPr>
              <a:t>эксперимент опасно выкатывать широко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640080" y="-502920"/>
            <a:ext cx="2468880" cy="2468880"/>
          </a:xfrm>
          <a:prstGeom prst="ellipse">
            <a:avLst/>
          </a:prstGeom>
          <a:solidFill>
            <a:srgbClr val="91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241280" y="-411480"/>
            <a:ext cx="2560320" cy="2560320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38360" y="5257800"/>
            <a:ext cx="2834640" cy="2834640"/>
          </a:xfrm>
          <a:prstGeom prst="ellipse">
            <a:avLst/>
          </a:prstGeom>
          <a:solidFill>
            <a:srgbClr val="F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502920" y="5577840"/>
            <a:ext cx="2011680" cy="2011680"/>
          </a:xfrm>
          <a:prstGeom prst="ellipse">
            <a:avLst/>
          </a:prstGeom>
          <a:solidFill>
            <a:srgbClr val="FFB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384048"/>
            <a:ext cx="594360" cy="310896"/>
          </a:xfrm>
          <a:prstGeom prst="round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91028"/>
                </a:solidFill>
                <a:latin typeface="Aptos"/>
              </a:rP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320040"/>
            <a:ext cx="1024128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800" b="1">
                <a:solidFill>
                  <a:srgbClr val="FAFCFF"/>
                </a:solidFill>
                <a:latin typeface="Aptos Display"/>
              </a:rPr>
              <a:t>Практический чеклист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822960"/>
            <a:ext cx="100584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0">
                <a:solidFill>
                  <a:srgbClr val="B9C6DE"/>
                </a:solidFill>
                <a:latin typeface="Aptos"/>
              </a:rPr>
              <a:t>Как спроектировать поисковую систему здраво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54864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0">
                <a:solidFill>
                  <a:srgbClr val="5C6884"/>
                </a:solidFill>
                <a:latin typeface="Aptos"/>
              </a:rPr>
              <a:t>Information Retrieval: модели, метрики, бизнес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0">
                <a:solidFill>
                  <a:srgbClr val="B9C6DE"/>
                </a:solidFill>
                <a:latin typeface="Aptos"/>
              </a:rPr>
              <a:t>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508760"/>
            <a:ext cx="103327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>
                <a:solidFill>
                  <a:srgbClr val="45FFBA"/>
                </a:solidFill>
              </a:rPr>
              <a:t>●  </a:t>
            </a:r>
            <a:r>
              <a:rPr sz="1700">
                <a:solidFill>
                  <a:srgbClr val="FAFCFF"/>
                </a:solidFill>
                <a:latin typeface="Aptos"/>
              </a:rPr>
              <a:t>Начать с baseline: BM25 + фильтры + ручная оценка top-K.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45FFBA"/>
                </a:solidFill>
              </a:rPr>
              <a:t>●  </a:t>
            </a:r>
            <a:r>
              <a:rPr sz="1700">
                <a:solidFill>
                  <a:srgbClr val="FAFCFF"/>
                </a:solidFill>
                <a:latin typeface="Aptos"/>
              </a:rPr>
              <a:t>Добавить dense retrieval там, где есть лексический разрыв.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45FFBA"/>
                </a:solidFill>
              </a:rPr>
              <a:t>●  </a:t>
            </a:r>
            <a:r>
              <a:rPr sz="1700">
                <a:solidFill>
                  <a:srgbClr val="FAFCFF"/>
                </a:solidFill>
                <a:latin typeface="Aptos"/>
              </a:rPr>
              <a:t>Собрать assessor set и считать NDCG/Recall/MRR по сегментам.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45FFBA"/>
                </a:solidFill>
              </a:rPr>
              <a:t>●  </a:t>
            </a:r>
            <a:r>
              <a:rPr sz="1700">
                <a:solidFill>
                  <a:srgbClr val="FAFCFF"/>
                </a:solidFill>
                <a:latin typeface="Aptos"/>
              </a:rPr>
              <a:t>Построить reranking с поведенческими и бизнес-признаками.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45FFBA"/>
                </a:solidFill>
              </a:rPr>
              <a:t>●  </a:t>
            </a:r>
            <a:r>
              <a:rPr sz="1700">
                <a:solidFill>
                  <a:srgbClr val="FAFCFF"/>
                </a:solidFill>
                <a:latin typeface="Aptos"/>
              </a:rPr>
              <a:t>Проверять всё через A/B и guardrails.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45FFBA"/>
                </a:solidFill>
              </a:rPr>
              <a:t>●  </a:t>
            </a:r>
            <a:r>
              <a:rPr sz="1700">
                <a:solidFill>
                  <a:srgbClr val="FAFCFF"/>
                </a:solidFill>
                <a:latin typeface="Aptos"/>
              </a:rPr>
              <a:t>Мониторить drift, latency, zero results и качество RAG-ответов.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640080" y="-502920"/>
            <a:ext cx="2468880" cy="2468880"/>
          </a:xfrm>
          <a:prstGeom prst="ellipse">
            <a:avLst/>
          </a:prstGeom>
          <a:solidFill>
            <a:srgbClr val="91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241280" y="-411480"/>
            <a:ext cx="2560320" cy="2560320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38360" y="5257800"/>
            <a:ext cx="2834640" cy="2834640"/>
          </a:xfrm>
          <a:prstGeom prst="ellipse">
            <a:avLst/>
          </a:prstGeom>
          <a:solidFill>
            <a:srgbClr val="F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502920" y="5577840"/>
            <a:ext cx="2011680" cy="2011680"/>
          </a:xfrm>
          <a:prstGeom prst="ellipse">
            <a:avLst/>
          </a:prstGeom>
          <a:solidFill>
            <a:srgbClr val="FFB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384048"/>
            <a:ext cx="594360" cy="310896"/>
          </a:xfrm>
          <a:prstGeom prst="round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91028"/>
                </a:solidFill>
                <a:latin typeface="Aptos"/>
              </a:rPr>
              <a:t>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320040"/>
            <a:ext cx="1024128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800" b="1">
                <a:solidFill>
                  <a:srgbClr val="FAFCFF"/>
                </a:solidFill>
                <a:latin typeface="Aptos Display"/>
              </a:rPr>
              <a:t>Итоги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822960"/>
            <a:ext cx="100584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0">
                <a:solidFill>
                  <a:srgbClr val="B9C6DE"/>
                </a:solidFill>
                <a:latin typeface="Aptos"/>
              </a:rPr>
              <a:t>Самое важное в одной картинке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54864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0">
                <a:solidFill>
                  <a:srgbClr val="5C6884"/>
                </a:solidFill>
                <a:latin typeface="Aptos"/>
              </a:rPr>
              <a:t>Information Retrieval: модели, метрики, бизнес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0">
                <a:solidFill>
                  <a:srgbClr val="B9C6DE"/>
                </a:solidFill>
                <a:latin typeface="Aptos"/>
              </a:rPr>
              <a:t>24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325880"/>
            <a:ext cx="4892040" cy="1353312"/>
          </a:xfrm>
          <a:prstGeom prst="roundRect">
            <a:avLst/>
          </a:prstGeom>
          <a:solidFill>
            <a:srgbClr val="121A3E"/>
          </a:solidFill>
          <a:ln w="17780">
            <a:solidFill>
              <a:srgbClr val="0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1435607"/>
            <a:ext cx="475488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1">
                <a:solidFill>
                  <a:srgbClr val="00DC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4752" y="1444752"/>
            <a:ext cx="4023359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FAFCFF"/>
                </a:solidFill>
                <a:latin typeface="Aptos Display"/>
              </a:rPr>
              <a:t>Поиск — воронка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1947672"/>
            <a:ext cx="4453127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B9C6DE"/>
                </a:solidFill>
                <a:latin typeface="Aptos"/>
              </a:rPr>
              <a:t>миллионы документов → десятки результатов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325880"/>
            <a:ext cx="4892040" cy="1353312"/>
          </a:xfrm>
          <a:prstGeom prst="roundRect">
            <a:avLst/>
          </a:prstGeom>
          <a:solidFill>
            <a:srgbClr val="121A3E"/>
          </a:solidFill>
          <a:ln w="17780">
            <a:solidFill>
              <a:srgbClr val="FF4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8231" y="1435607"/>
            <a:ext cx="475488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1">
                <a:solidFill>
                  <a:srgbClr val="FF4F9A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76872" y="1444752"/>
            <a:ext cx="4023359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FAFCFF"/>
                </a:solidFill>
                <a:latin typeface="Aptos Display"/>
              </a:rPr>
              <a:t>Гибридность побеждает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3096" y="1947672"/>
            <a:ext cx="4453127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B9C6DE"/>
                </a:solidFill>
                <a:latin typeface="Aptos"/>
              </a:rPr>
              <a:t>BM25 + vectors + reranker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063239"/>
            <a:ext cx="4892040" cy="1353312"/>
          </a:xfrm>
          <a:prstGeom prst="roundRect">
            <a:avLst/>
          </a:prstGeom>
          <a:solidFill>
            <a:srgbClr val="121A3E"/>
          </a:solidFill>
          <a:ln w="17780">
            <a:solidFill>
              <a:srgbClr val="FFB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3172968"/>
            <a:ext cx="475488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1">
                <a:solidFill>
                  <a:srgbClr val="FFB240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44752" y="3182111"/>
            <a:ext cx="4023359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FAFCFF"/>
                </a:solidFill>
                <a:latin typeface="Aptos Display"/>
              </a:rPr>
              <a:t>NDCG — не деньги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" y="3685031"/>
            <a:ext cx="4453127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B9C6DE"/>
                </a:solidFill>
                <a:latin typeface="Aptos"/>
              </a:rPr>
              <a:t>offline-метрики не заменяют A/B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3063239"/>
            <a:ext cx="4892040" cy="1353312"/>
          </a:xfrm>
          <a:prstGeom prst="roundRect">
            <a:avLst/>
          </a:prstGeom>
          <a:solidFill>
            <a:srgbClr val="121A3E"/>
          </a:solidFill>
          <a:ln w="17780">
            <a:solidFill>
              <a:srgbClr val="45FF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8231" y="3172968"/>
            <a:ext cx="475488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1">
                <a:solidFill>
                  <a:srgbClr val="45FFBA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76872" y="3182111"/>
            <a:ext cx="4023359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FAFCFF"/>
                </a:solidFill>
                <a:latin typeface="Aptos Display"/>
              </a:rPr>
              <a:t>RAG зависит от IR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83096" y="3685031"/>
            <a:ext cx="4453127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B9C6DE"/>
                </a:solidFill>
                <a:latin typeface="Aptos"/>
              </a:rPr>
              <a:t>без хорошего retrieval LLM галлюцинирует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617720"/>
            <a:ext cx="10332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>
                <a:solidFill>
                  <a:srgbClr val="00DCFF"/>
                </a:solidFill>
              </a:rPr>
              <a:t>●  </a:t>
            </a:r>
            <a:r>
              <a:rPr sz="1400">
                <a:solidFill>
                  <a:srgbClr val="FAFCFF"/>
                </a:solidFill>
                <a:latin typeface="Aptos"/>
              </a:rPr>
              <a:t>Информационный поиск — это инженерно-продуктовая система, где модели, данные, UX и бизнес-цели оптимизируются вместе.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640080" y="-502920"/>
            <a:ext cx="2468880" cy="2468880"/>
          </a:xfrm>
          <a:prstGeom prst="ellipse">
            <a:avLst/>
          </a:prstGeom>
          <a:solidFill>
            <a:srgbClr val="91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241280" y="-411480"/>
            <a:ext cx="2560320" cy="2560320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38360" y="5257800"/>
            <a:ext cx="2834640" cy="2834640"/>
          </a:xfrm>
          <a:prstGeom prst="ellipse">
            <a:avLst/>
          </a:prstGeom>
          <a:solidFill>
            <a:srgbClr val="F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502920" y="5577840"/>
            <a:ext cx="2011680" cy="2011680"/>
          </a:xfrm>
          <a:prstGeom prst="ellipse">
            <a:avLst/>
          </a:prstGeom>
          <a:solidFill>
            <a:srgbClr val="FFB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143000"/>
            <a:ext cx="56692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5800" b="1">
                <a:solidFill>
                  <a:srgbClr val="FAFCFF"/>
                </a:solidFill>
                <a:latin typeface="Aptos Display"/>
              </a:rPr>
              <a:t>Спасибо!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40280"/>
            <a:ext cx="475488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400" b="0">
                <a:solidFill>
                  <a:srgbClr val="B9C6DE"/>
                </a:solidFill>
                <a:latin typeface="Aptos"/>
              </a:rPr>
              <a:t>Вопросы и обсуждение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234440"/>
            <a:ext cx="4434840" cy="3246120"/>
          </a:xfrm>
          <a:prstGeom prst="roundRect">
            <a:avLst/>
          </a:prstGeom>
          <a:solidFill>
            <a:srgbClr val="121A3E"/>
          </a:solidFill>
          <a:ln w="17780">
            <a:solidFill>
              <a:srgbClr val="0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56831" y="1344168"/>
            <a:ext cx="475488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1">
                <a:solidFill>
                  <a:srgbClr val="00DCFF"/>
                </a:solidFill>
                <a:latin typeface="Arial"/>
              </a:rPr>
              <a:t>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5472" y="1353312"/>
            <a:ext cx="3566159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800" b="1">
                <a:solidFill>
                  <a:srgbClr val="FAFCFF"/>
                </a:solidFill>
                <a:latin typeface="Aptos Display"/>
              </a:rPr>
              <a:t>Короткая формула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11696" y="1856232"/>
            <a:ext cx="3995927" cy="2496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400" b="0">
                <a:solidFill>
                  <a:srgbClr val="B9C6DE"/>
                </a:solidFill>
                <a:latin typeface="Aptos"/>
              </a:rPr>
              <a:t>Relevance
+ User feedback
+ Business constraints
+ Continuous experiments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23160" y="5257800"/>
            <a:ext cx="7315200" cy="530352"/>
          </a:xfrm>
          <a:prstGeom prst="roundRect">
            <a:avLst/>
          </a:prstGeom>
          <a:solidFill>
            <a:srgbClr val="F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AFCFF"/>
                </a:solidFill>
                <a:latin typeface="Aptos"/>
              </a:rPr>
              <a:t>IR is a product loop, not a one-time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73952"/>
            <a:ext cx="54864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0">
                <a:solidFill>
                  <a:srgbClr val="5C6884"/>
                </a:solidFill>
                <a:latin typeface="Aptos"/>
              </a:rPr>
              <a:t>Information Retrieval: модели, метрики, бизнес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0">
                <a:solidFill>
                  <a:srgbClr val="B9C6DE"/>
                </a:solidFill>
                <a:latin typeface="Aptos"/>
              </a:rPr>
              <a:t>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Информационный поиск: модели, метрики, бизнес и полный цикл</dc:title>
  <dc:subject>Большая презентация про Information Retrieval</dc:subject>
  <dc:creator>Cursor AI</dc:creator>
  <cp:keywords>information retrieval, search, bm25, embeddings, ranking, metrics, rag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